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61" r:id="rId4"/>
    <p:sldId id="258" r:id="rId5"/>
    <p:sldId id="262" r:id="rId6"/>
    <p:sldId id="259" r:id="rId7"/>
    <p:sldId id="260" r:id="rId8"/>
  </p:sldIdLst>
  <p:sldSz cx="18288000" cy="10287000"/>
  <p:notesSz cx="18288000" cy="10287000"/>
  <p:embeddedFontLst>
    <p:embeddedFont>
      <p:font typeface="Trebuchet MS" panose="020B0703020202090204" pitchFamily="34" charset="0"/>
      <p:regular r:id="rId10"/>
      <p:bold r:id="rId11"/>
      <p: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 roundtripDataSignature="AMtx7mjjVhjslX3ynpaWBvMB0mvt7Gsas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2"/>
    <p:restoredTop sz="94724"/>
  </p:normalViewPr>
  <p:slideViewPr>
    <p:cSldViewPr snapToGrid="0">
      <p:cViewPr varScale="1">
        <p:scale>
          <a:sx n="37" d="100"/>
          <a:sy n="37" d="100"/>
        </p:scale>
        <p:origin x="216" y="123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1: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2: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2: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a:extLst>
            <a:ext uri="{FF2B5EF4-FFF2-40B4-BE49-F238E27FC236}">
              <a16:creationId xmlns:a16="http://schemas.microsoft.com/office/drawing/2014/main" id="{36C733F3-30E0-CC0D-7691-A151FAFF6D32}"/>
            </a:ext>
          </a:extLst>
        </p:cNvPr>
        <p:cNvGrpSpPr/>
        <p:nvPr/>
      </p:nvGrpSpPr>
      <p:grpSpPr>
        <a:xfrm>
          <a:off x="0" y="0"/>
          <a:ext cx="0" cy="0"/>
          <a:chOff x="0" y="0"/>
          <a:chExt cx="0" cy="0"/>
        </a:xfrm>
      </p:grpSpPr>
      <p:sp>
        <p:nvSpPr>
          <p:cNvPr id="54" name="Google Shape;54;p2:notes">
            <a:extLst>
              <a:ext uri="{FF2B5EF4-FFF2-40B4-BE49-F238E27FC236}">
                <a16:creationId xmlns:a16="http://schemas.microsoft.com/office/drawing/2014/main" id="{48494C90-9044-044B-69CC-E067A6236C22}"/>
              </a:ext>
            </a:extLst>
          </p:cNvPr>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2:notes">
            <a:extLst>
              <a:ext uri="{FF2B5EF4-FFF2-40B4-BE49-F238E27FC236}">
                <a16:creationId xmlns:a16="http://schemas.microsoft.com/office/drawing/2014/main" id="{7BE92419-6951-EE7E-492E-E052DF0DEE34}"/>
              </a:ext>
            </a:extLst>
          </p:cNvPr>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5670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3: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B2FB74F7-C566-4200-31CE-883EBF672C87}"/>
            </a:ext>
          </a:extLst>
        </p:cNvPr>
        <p:cNvGrpSpPr/>
        <p:nvPr/>
      </p:nvGrpSpPr>
      <p:grpSpPr>
        <a:xfrm>
          <a:off x="0" y="0"/>
          <a:ext cx="0" cy="0"/>
          <a:chOff x="0" y="0"/>
          <a:chExt cx="0" cy="0"/>
        </a:xfrm>
      </p:grpSpPr>
      <p:sp>
        <p:nvSpPr>
          <p:cNvPr id="61" name="Google Shape;61;p3:notes">
            <a:extLst>
              <a:ext uri="{FF2B5EF4-FFF2-40B4-BE49-F238E27FC236}">
                <a16:creationId xmlns:a16="http://schemas.microsoft.com/office/drawing/2014/main" id="{1BF36A5C-10C5-DEF7-2E28-2666BEF4D89E}"/>
              </a:ext>
            </a:extLst>
          </p:cNvPr>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3:notes">
            <a:extLst>
              <a:ext uri="{FF2B5EF4-FFF2-40B4-BE49-F238E27FC236}">
                <a16:creationId xmlns:a16="http://schemas.microsoft.com/office/drawing/2014/main" id="{9ABC732F-B559-F0A7-BB4F-AB5FC31A0776}"/>
              </a:ext>
            </a:extLst>
          </p:cNvPr>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5946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4: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7"/>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b="1" i="0">
                <a:solidFill>
                  <a:srgbClr val="7B16AC"/>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body" idx="1"/>
          </p:nvPr>
        </p:nvSpPr>
        <p:spPr>
          <a:xfrm>
            <a:off x="914400" y="2366010"/>
            <a:ext cx="1645920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7"/>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8"/>
          <p:cNvSpPr txBox="1">
            <a:spLocks noGrp="1"/>
          </p:cNvSpPr>
          <p:nvPr>
            <p:ph type="ctrTitle"/>
          </p:nvPr>
        </p:nvSpPr>
        <p:spPr>
          <a:xfrm>
            <a:off x="1371600" y="3188970"/>
            <a:ext cx="15544800" cy="21602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subTitle" idx="1"/>
          </p:nvPr>
        </p:nvSpPr>
        <p:spPr>
          <a:xfrm>
            <a:off x="2743200" y="5760720"/>
            <a:ext cx="12801600" cy="25717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8"/>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b="1" i="0">
                <a:solidFill>
                  <a:srgbClr val="7B16AC"/>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914400" y="2366010"/>
            <a:ext cx="795528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9"/>
          <p:cNvSpPr txBox="1">
            <a:spLocks noGrp="1"/>
          </p:cNvSpPr>
          <p:nvPr>
            <p:ph type="body" idx="2"/>
          </p:nvPr>
        </p:nvSpPr>
        <p:spPr>
          <a:xfrm>
            <a:off x="9418320" y="2366010"/>
            <a:ext cx="795528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9"/>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0"/>
        <p:cNvGrpSpPr/>
        <p:nvPr/>
      </p:nvGrpSpPr>
      <p:grpSpPr>
        <a:xfrm>
          <a:off x="0" y="0"/>
          <a:ext cx="0" cy="0"/>
          <a:chOff x="0" y="0"/>
          <a:chExt cx="0" cy="0"/>
        </a:xfrm>
      </p:grpSpPr>
      <p:sp>
        <p:nvSpPr>
          <p:cNvPr id="31" name="Google Shape;31;p10"/>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b="1" i="0">
                <a:solidFill>
                  <a:srgbClr val="7B16AC"/>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0"/>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0"/>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11"/>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1"/>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3329276" y="294775"/>
            <a:ext cx="11629447" cy="7874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5000" b="1" i="0" u="none" strike="noStrike" cap="none">
                <a:solidFill>
                  <a:srgbClr val="7B16AC"/>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914400" y="2366010"/>
            <a:ext cx="16459200" cy="678942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6"/>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mailto:anudharshni26@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2"/>
        <p:cNvGrpSpPr/>
        <p:nvPr/>
      </p:nvGrpSpPr>
      <p:grpSpPr>
        <a:xfrm>
          <a:off x="0" y="0"/>
          <a:ext cx="0" cy="0"/>
          <a:chOff x="0" y="0"/>
          <a:chExt cx="0" cy="0"/>
        </a:xfrm>
      </p:grpSpPr>
      <p:sp>
        <p:nvSpPr>
          <p:cNvPr id="43" name="Google Shape;43;p1"/>
          <p:cNvSpPr/>
          <p:nvPr/>
        </p:nvSpPr>
        <p:spPr>
          <a:xfrm>
            <a:off x="0" y="7772579"/>
            <a:ext cx="18288000" cy="2514600"/>
          </a:xfrm>
          <a:custGeom>
            <a:avLst/>
            <a:gdLst/>
            <a:ahLst/>
            <a:cxnLst/>
            <a:rect l="l" t="t" r="r" b="b"/>
            <a:pathLst>
              <a:path w="18288000" h="2514600" extrusionOk="0">
                <a:moveTo>
                  <a:pt x="18287998" y="2514599"/>
                </a:moveTo>
                <a:lnTo>
                  <a:pt x="0" y="2514599"/>
                </a:lnTo>
                <a:lnTo>
                  <a:pt x="0" y="0"/>
                </a:lnTo>
                <a:lnTo>
                  <a:pt x="18287998" y="0"/>
                </a:lnTo>
                <a:lnTo>
                  <a:pt x="18287998" y="2514599"/>
                </a:lnTo>
                <a:close/>
              </a:path>
            </a:pathLst>
          </a:custGeom>
          <a:solidFill>
            <a:srgbClr val="99D9D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4" name="Google Shape;44;p1"/>
          <p:cNvPicPr preferRelativeResize="0"/>
          <p:nvPr/>
        </p:nvPicPr>
        <p:blipFill rotWithShape="1">
          <a:blip r:embed="rId3">
            <a:alphaModFix/>
          </a:blip>
          <a:srcRect/>
          <a:stretch/>
        </p:blipFill>
        <p:spPr>
          <a:xfrm>
            <a:off x="1509837" y="136528"/>
            <a:ext cx="1190624" cy="1381124"/>
          </a:xfrm>
          <a:prstGeom prst="rect">
            <a:avLst/>
          </a:prstGeom>
          <a:noFill/>
          <a:ln>
            <a:noFill/>
          </a:ln>
        </p:spPr>
      </p:pic>
      <p:sp>
        <p:nvSpPr>
          <p:cNvPr id="46" name="Google Shape;46;p1"/>
          <p:cNvSpPr txBox="1"/>
          <p:nvPr/>
        </p:nvSpPr>
        <p:spPr>
          <a:xfrm>
            <a:off x="3029031" y="8150218"/>
            <a:ext cx="11184890" cy="1090042"/>
          </a:xfrm>
          <a:prstGeom prst="rect">
            <a:avLst/>
          </a:prstGeom>
          <a:noFill/>
          <a:ln>
            <a:noFill/>
          </a:ln>
        </p:spPr>
        <p:txBody>
          <a:bodyPr spcFirstLastPara="1" wrap="square" lIns="0" tIns="165100" rIns="0" bIns="0" anchor="t" anchorCtr="0">
            <a:spAutoFit/>
          </a:bodyPr>
          <a:lstStyle/>
          <a:p>
            <a:pPr marL="2502535" marR="5080" lvl="0" indent="-2490470" algn="ctr" rtl="0">
              <a:lnSpc>
                <a:spcPct val="100000"/>
              </a:lnSpc>
              <a:spcBef>
                <a:spcPts val="0"/>
              </a:spcBef>
              <a:spcAft>
                <a:spcPts val="0"/>
              </a:spcAft>
              <a:buNone/>
            </a:pPr>
            <a:r>
              <a:rPr lang="en-US" sz="6000" b="1" i="1" dirty="0">
                <a:solidFill>
                  <a:srgbClr val="2B4AA6"/>
                </a:solidFill>
                <a:latin typeface="Trebuchet MS"/>
                <a:ea typeface="Trebuchet MS"/>
                <a:cs typeface="Trebuchet MS"/>
                <a:sym typeface="Trebuchet MS"/>
              </a:rPr>
              <a:t>Traffic Sense</a:t>
            </a:r>
            <a:endParaRPr sz="6000" dirty="0">
              <a:solidFill>
                <a:schemeClr val="dk1"/>
              </a:solidFill>
              <a:latin typeface="Trebuchet MS"/>
              <a:ea typeface="Trebuchet MS"/>
              <a:cs typeface="Trebuchet MS"/>
              <a:sym typeface="Trebuchet MS"/>
            </a:endParaRPr>
          </a:p>
        </p:txBody>
      </p:sp>
      <p:sp>
        <p:nvSpPr>
          <p:cNvPr id="47" name="Google Shape;47;p1"/>
          <p:cNvSpPr txBox="1">
            <a:spLocks noGrp="1"/>
          </p:cNvSpPr>
          <p:nvPr>
            <p:ph type="title"/>
          </p:nvPr>
        </p:nvSpPr>
        <p:spPr>
          <a:xfrm>
            <a:off x="3329276" y="294775"/>
            <a:ext cx="11629447" cy="78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PANIMALAR ENGINEERING COLLEGE</a:t>
            </a:r>
            <a:endParaRPr/>
          </a:p>
        </p:txBody>
      </p:sp>
      <p:sp>
        <p:nvSpPr>
          <p:cNvPr id="48" name="Google Shape;48;p1"/>
          <p:cNvSpPr txBox="1"/>
          <p:nvPr/>
        </p:nvSpPr>
        <p:spPr>
          <a:xfrm>
            <a:off x="6454049" y="1185564"/>
            <a:ext cx="4334510" cy="6654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4200" b="1">
                <a:solidFill>
                  <a:srgbClr val="99B83C"/>
                </a:solidFill>
                <a:latin typeface="Trebuchet MS"/>
                <a:ea typeface="Trebuchet MS"/>
                <a:cs typeface="Trebuchet MS"/>
                <a:sym typeface="Trebuchet MS"/>
              </a:rPr>
              <a:t>IDEATHON 2022</a:t>
            </a:r>
            <a:endParaRPr sz="4200">
              <a:solidFill>
                <a:schemeClr val="dk1"/>
              </a:solidFill>
              <a:latin typeface="Trebuchet MS"/>
              <a:ea typeface="Trebuchet MS"/>
              <a:cs typeface="Trebuchet MS"/>
              <a:sym typeface="Trebuchet MS"/>
            </a:endParaRPr>
          </a:p>
        </p:txBody>
      </p:sp>
      <p:sp>
        <p:nvSpPr>
          <p:cNvPr id="49" name="Google Shape;49;p1"/>
          <p:cNvSpPr txBox="1"/>
          <p:nvPr/>
        </p:nvSpPr>
        <p:spPr>
          <a:xfrm>
            <a:off x="1520375" y="2668426"/>
            <a:ext cx="4883100" cy="2724074"/>
          </a:xfrm>
          <a:prstGeom prst="rect">
            <a:avLst/>
          </a:prstGeom>
          <a:noFill/>
          <a:ln>
            <a:noFill/>
          </a:ln>
        </p:spPr>
        <p:txBody>
          <a:bodyPr spcFirstLastPara="1" wrap="square" lIns="0" tIns="214625" rIns="0" bIns="0" anchor="t" anchorCtr="0">
            <a:spAutoFit/>
          </a:bodyPr>
          <a:lstStyle/>
          <a:p>
            <a:pPr marL="0" marR="0" lvl="0" indent="0" algn="l" rtl="0">
              <a:lnSpc>
                <a:spcPct val="100000"/>
              </a:lnSpc>
              <a:spcBef>
                <a:spcPts val="50"/>
              </a:spcBef>
              <a:spcAft>
                <a:spcPts val="0"/>
              </a:spcAft>
              <a:buNone/>
            </a:pPr>
            <a:endParaRPr sz="3000" dirty="0">
              <a:solidFill>
                <a:schemeClr val="dk1"/>
              </a:solidFill>
              <a:latin typeface="Times New Roman" panose="02020603050405020304" pitchFamily="18" charset="0"/>
              <a:ea typeface="Trebuchet MS"/>
              <a:cs typeface="Times New Roman" panose="02020603050405020304" pitchFamily="18" charset="0"/>
              <a:sym typeface="Trebuchet MS"/>
            </a:endParaRPr>
          </a:p>
          <a:p>
            <a:pPr marL="0" marR="0" lvl="0" indent="0" algn="ctr" rtl="0">
              <a:lnSpc>
                <a:spcPct val="100000"/>
              </a:lnSpc>
              <a:spcBef>
                <a:spcPts val="0"/>
              </a:spcBef>
              <a:spcAft>
                <a:spcPts val="0"/>
              </a:spcAft>
              <a:buNone/>
            </a:pPr>
            <a:endParaRPr sz="3000" b="1" dirty="0">
              <a:solidFill>
                <a:schemeClr val="dk1"/>
              </a:solidFill>
              <a:latin typeface="Times New Roman" panose="02020603050405020304" pitchFamily="18" charset="0"/>
              <a:ea typeface="Tahoma"/>
              <a:cs typeface="Times New Roman" panose="02020603050405020304" pitchFamily="18" charset="0"/>
              <a:sym typeface="Tahoma"/>
            </a:endParaRPr>
          </a:p>
          <a:p>
            <a:pPr marL="0" marR="0" lvl="0" indent="0" algn="ctr" rtl="0">
              <a:lnSpc>
                <a:spcPct val="100000"/>
              </a:lnSpc>
              <a:spcBef>
                <a:spcPts val="0"/>
              </a:spcBef>
              <a:spcAft>
                <a:spcPts val="0"/>
              </a:spcAft>
              <a:buNone/>
            </a:pPr>
            <a:r>
              <a:rPr lang="en-US" sz="3000" b="1" dirty="0">
                <a:solidFill>
                  <a:schemeClr val="dk1"/>
                </a:solidFill>
                <a:latin typeface="Times New Roman" panose="02020603050405020304" pitchFamily="18" charset="0"/>
                <a:ea typeface="Tahoma"/>
                <a:cs typeface="Times New Roman" panose="02020603050405020304" pitchFamily="18" charset="0"/>
                <a:sym typeface="Tahoma"/>
              </a:rPr>
              <a:t>Akilan M</a:t>
            </a:r>
            <a:endParaRPr sz="3000" dirty="0">
              <a:solidFill>
                <a:schemeClr val="dk1"/>
              </a:solidFill>
              <a:latin typeface="Times New Roman" panose="02020603050405020304" pitchFamily="18" charset="0"/>
              <a:ea typeface="Tahoma"/>
              <a:cs typeface="Times New Roman" panose="02020603050405020304" pitchFamily="18" charset="0"/>
              <a:sym typeface="Tahoma"/>
            </a:endParaRPr>
          </a:p>
          <a:p>
            <a:pPr marL="1322070" marR="1314450" lvl="0" indent="0" algn="ctr" rtl="0">
              <a:lnSpc>
                <a:spcPct val="106800"/>
              </a:lnSpc>
              <a:spcBef>
                <a:spcPts val="994"/>
              </a:spcBef>
              <a:spcAft>
                <a:spcPts val="0"/>
              </a:spcAft>
              <a:buNone/>
            </a:pPr>
            <a:r>
              <a:rPr lang="en-US" sz="3000" dirty="0">
                <a:solidFill>
                  <a:schemeClr val="dk1"/>
                </a:solidFill>
                <a:latin typeface="Times New Roman" panose="02020603050405020304" pitchFamily="18" charset="0"/>
                <a:ea typeface="Trebuchet MS"/>
                <a:cs typeface="Times New Roman" panose="02020603050405020304" pitchFamily="18" charset="0"/>
                <a:sym typeface="Trebuchet MS"/>
              </a:rPr>
              <a:t>III CSE A</a:t>
            </a:r>
            <a:endParaRPr sz="3000" dirty="0">
              <a:solidFill>
                <a:schemeClr val="dk1"/>
              </a:solidFill>
              <a:latin typeface="Times New Roman" panose="02020603050405020304" pitchFamily="18" charset="0"/>
              <a:ea typeface="Trebuchet MS"/>
              <a:cs typeface="Times New Roman" panose="02020603050405020304" pitchFamily="18" charset="0"/>
              <a:sym typeface="Trebuchet MS"/>
            </a:endParaRPr>
          </a:p>
          <a:p>
            <a:pPr marL="0" marR="0" lvl="0" indent="0" algn="ctr" rtl="0">
              <a:lnSpc>
                <a:spcPct val="100000"/>
              </a:lnSpc>
              <a:spcBef>
                <a:spcPts val="195"/>
              </a:spcBef>
              <a:spcAft>
                <a:spcPts val="0"/>
              </a:spcAft>
              <a:buNone/>
            </a:pPr>
            <a:r>
              <a:rPr lang="en-US" sz="3000" u="sng" dirty="0">
                <a:solidFill>
                  <a:schemeClr val="dk1"/>
                </a:solidFill>
                <a:latin typeface="Times New Roman" panose="02020603050405020304" pitchFamily="18" charset="0"/>
                <a:ea typeface="Trebuchet MS"/>
                <a:cs typeface="Times New Roman" panose="02020603050405020304" pitchFamily="18" charset="0"/>
                <a:sym typeface="Trebuchet MS"/>
              </a:rPr>
              <a:t>ak.akilan.smart22</a:t>
            </a:r>
            <a:r>
              <a:rPr lang="en-US" sz="3000" u="sng" dirty="0">
                <a:solidFill>
                  <a:schemeClr val="dk1"/>
                </a:solidFill>
                <a:latin typeface="Times New Roman" panose="02020603050405020304" pitchFamily="18" charset="0"/>
                <a:ea typeface="Trebuchet MS"/>
                <a:cs typeface="Times New Roman" panose="02020603050405020304" pitchFamily="18" charset="0"/>
                <a:sym typeface="Trebuchet MS"/>
                <a:hlinkClick r:id="rId4">
                  <a:extLst>
                    <a:ext uri="{A12FA001-AC4F-418D-AE19-62706E023703}">
                      <ahyp:hlinkClr xmlns:ahyp="http://schemas.microsoft.com/office/drawing/2018/hyperlinkcolor" val="tx"/>
                    </a:ext>
                  </a:extLst>
                </a:hlinkClick>
              </a:rPr>
              <a:t>@gmail.com</a:t>
            </a:r>
            <a:endParaRPr sz="3000" dirty="0">
              <a:solidFill>
                <a:schemeClr val="dk1"/>
              </a:solidFill>
              <a:latin typeface="Times New Roman" panose="02020603050405020304" pitchFamily="18" charset="0"/>
              <a:ea typeface="Trebuchet MS"/>
              <a:cs typeface="Times New Roman" panose="02020603050405020304" pitchFamily="18" charset="0"/>
              <a:sym typeface="Trebuchet MS"/>
            </a:endParaRPr>
          </a:p>
        </p:txBody>
      </p:sp>
      <p:sp>
        <p:nvSpPr>
          <p:cNvPr id="50" name="Google Shape;50;p1"/>
          <p:cNvSpPr txBox="1"/>
          <p:nvPr/>
        </p:nvSpPr>
        <p:spPr>
          <a:xfrm>
            <a:off x="13106400" y="1576234"/>
            <a:ext cx="33324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rgbClr val="D02944"/>
                </a:solidFill>
                <a:latin typeface="Trebuchet MS"/>
                <a:ea typeface="Trebuchet MS"/>
                <a:cs typeface="Trebuchet MS"/>
                <a:sym typeface="Trebuchet MS"/>
              </a:rPr>
              <a:t>Team Name: AKAKN</a:t>
            </a:r>
            <a:endParaRPr sz="2400">
              <a:solidFill>
                <a:schemeClr val="dk1"/>
              </a:solidFill>
              <a:latin typeface="Trebuchet MS"/>
              <a:ea typeface="Trebuchet MS"/>
              <a:cs typeface="Trebuchet MS"/>
              <a:sym typeface="Trebuchet MS"/>
            </a:endParaRPr>
          </a:p>
        </p:txBody>
      </p:sp>
      <p:pic>
        <p:nvPicPr>
          <p:cNvPr id="3" name="Picture 2" descr="A traffic lights and traffic signals&#10;&#10;AI-generated content may be incorrect.">
            <a:extLst>
              <a:ext uri="{FF2B5EF4-FFF2-40B4-BE49-F238E27FC236}">
                <a16:creationId xmlns:a16="http://schemas.microsoft.com/office/drawing/2014/main" id="{E8D83722-C35D-EC5B-736A-D2B8B6693395}"/>
              </a:ext>
            </a:extLst>
          </p:cNvPr>
          <p:cNvPicPr>
            <a:picLocks noChangeAspect="1"/>
          </p:cNvPicPr>
          <p:nvPr/>
        </p:nvPicPr>
        <p:blipFill>
          <a:blip r:embed="rId5"/>
          <a:stretch>
            <a:fillRect/>
          </a:stretch>
        </p:blipFill>
        <p:spPr>
          <a:xfrm>
            <a:off x="8995225" y="2276523"/>
            <a:ext cx="7772400" cy="518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6"/>
        <p:cNvGrpSpPr/>
        <p:nvPr/>
      </p:nvGrpSpPr>
      <p:grpSpPr>
        <a:xfrm>
          <a:off x="0" y="0"/>
          <a:ext cx="0" cy="0"/>
          <a:chOff x="0" y="0"/>
          <a:chExt cx="0" cy="0"/>
        </a:xfrm>
      </p:grpSpPr>
      <p:sp>
        <p:nvSpPr>
          <p:cNvPr id="58" name="Google Shape;58;p2"/>
          <p:cNvSpPr txBox="1">
            <a:spLocks noGrp="1"/>
          </p:cNvSpPr>
          <p:nvPr>
            <p:ph type="title"/>
          </p:nvPr>
        </p:nvSpPr>
        <p:spPr>
          <a:xfrm>
            <a:off x="1016000" y="404817"/>
            <a:ext cx="15571469" cy="78226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u="sng">
                <a:solidFill>
                  <a:srgbClr val="000000"/>
                </a:solidFill>
              </a:rPr>
              <a:t>Abstract:</a:t>
            </a:r>
            <a:endParaRPr u="sng">
              <a:solidFill>
                <a:srgbClr val="000000"/>
              </a:solidFill>
            </a:endParaRPr>
          </a:p>
        </p:txBody>
      </p:sp>
      <p:sp>
        <p:nvSpPr>
          <p:cNvPr id="59" name="Google Shape;59;p2"/>
          <p:cNvSpPr/>
          <p:nvPr/>
        </p:nvSpPr>
        <p:spPr>
          <a:xfrm>
            <a:off x="0" y="8697718"/>
            <a:ext cx="18288000" cy="1590675"/>
          </a:xfrm>
          <a:custGeom>
            <a:avLst/>
            <a:gdLst/>
            <a:ahLst/>
            <a:cxnLst/>
            <a:rect l="l" t="t" r="r" b="b"/>
            <a:pathLst>
              <a:path w="18288000" h="1590675" extrusionOk="0">
                <a:moveTo>
                  <a:pt x="18287998" y="1590674"/>
                </a:moveTo>
                <a:lnTo>
                  <a:pt x="0" y="1590674"/>
                </a:lnTo>
                <a:lnTo>
                  <a:pt x="0" y="0"/>
                </a:lnTo>
                <a:lnTo>
                  <a:pt x="18287998" y="0"/>
                </a:lnTo>
                <a:lnTo>
                  <a:pt x="18287998" y="1590674"/>
                </a:lnTo>
                <a:close/>
              </a:path>
            </a:pathLst>
          </a:custGeom>
          <a:solidFill>
            <a:srgbClr val="99B83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 name="Rectangle 2">
            <a:extLst>
              <a:ext uri="{FF2B5EF4-FFF2-40B4-BE49-F238E27FC236}">
                <a16:creationId xmlns:a16="http://schemas.microsoft.com/office/drawing/2014/main" id="{873DEBF1-1248-857B-C864-342B15714C7A}"/>
              </a:ext>
            </a:extLst>
          </p:cNvPr>
          <p:cNvSpPr>
            <a:spLocks noChangeArrowheads="1"/>
          </p:cNvSpPr>
          <p:nvPr/>
        </p:nvSpPr>
        <p:spPr bwMode="auto">
          <a:xfrm>
            <a:off x="552446" y="1218748"/>
            <a:ext cx="17183107"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Urban traffic congestion causes major losses in travel time, fuel consumption, and productivity, while also increasing accident risk and emissions. Most existing traffic signal systems rely on fixed-time schedules or simple rule-based logic that does not adapt well to real-world variability such as rush hours, road incidents, weather, school/office timings, or public events. This </a:t>
            </a: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ideathon</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project proposes </a:t>
            </a:r>
            <a:r>
              <a:rPr kumimoji="0" lang="en-US" altLang="en-US" sz="2000" b="1" i="0" u="none" strike="noStrike" cap="none" normalizeH="0" baseline="0" dirty="0" err="1">
                <a:ln>
                  <a:noFill/>
                </a:ln>
                <a:effectLst/>
                <a:latin typeface="Times New Roman" panose="02020603050405020304" pitchFamily="18" charset="0"/>
                <a:cs typeface="Times New Roman" panose="02020603050405020304" pitchFamily="18" charset="0"/>
              </a:rPr>
              <a:t>TrafficSense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 machine learning–driven Smart City solution that predicts near-term congestion and recommends adaptive signal timing to reduce queue buildup at intersections.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TrafficSense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is designed as a two-stage pipeline. In the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prediction stage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the system forecasts short-horizon congestion levels (e.g., 5–15 minutes ahead) for road segments and intersections using supervised learning. The model consumes features from historical traffic patterns and live signals such as timestamp, day type (weekday/holiday), intersection ID, lane/road attributes, recent average speed, vehicle counts, queue length estimates, and optional external factors like event schedules or weather. The output is a congestion score or predicted traffic density for each approach (incoming road) at an intersection.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In the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optimization stage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TrafficSense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converts predictions into actionable control decisions: recommended green-split ratios, cycle length adjustments, and phase scheduling under operational constraints. Constraints include minimum/maximum green times, pedestrian crossing intervals, fairness across directions (prevent starvation), emergency vehicle priority, and safety rules. Rather than directly controlling signals without safeguards, the proposed system acts as a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decision-support module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that suggests timing plans, allowing a traffic operator or a rule-based safety layer to validate and apply changes.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The project emphasizes practical engineering considerations: cold-start handling for new intersections, robustness to missing/noisy sensor inputs, and scalable deployment where inference must run in near real time. Model performance can be evaluated using forecasting metrics such as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MAE/RMSE</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for speed/flow prediction and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classification metrics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(precision/recall) if congestion is framed as discrete levels. System-level evaluation focuses on traffic outcomes such as reduced queue length, fewer stops, smoother average travel time, and improved throughput during peak hours.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TrafficSense’s</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ideathon</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deliverable is a complete conceptual framework including architecture, data plan, feature definitions, model choices (baseline regression/gradient boosting with room for LSTM/temporal models), constraint-aware optimization logic, and a demo narrative illustrating how adaptive recommendations respond to changing traffic conditions. This solution targets a high-impact Smart City problem and demonstrates end-to-end ML system thinking from data to deployment.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6">
          <a:extLst>
            <a:ext uri="{FF2B5EF4-FFF2-40B4-BE49-F238E27FC236}">
              <a16:creationId xmlns:a16="http://schemas.microsoft.com/office/drawing/2014/main" id="{E34DB347-FFC4-B598-3C6E-9F1A3DAEFE1B}"/>
            </a:ext>
          </a:extLst>
        </p:cNvPr>
        <p:cNvGrpSpPr/>
        <p:nvPr/>
      </p:nvGrpSpPr>
      <p:grpSpPr>
        <a:xfrm>
          <a:off x="0" y="0"/>
          <a:ext cx="0" cy="0"/>
          <a:chOff x="0" y="0"/>
          <a:chExt cx="0" cy="0"/>
        </a:xfrm>
      </p:grpSpPr>
      <p:sp>
        <p:nvSpPr>
          <p:cNvPr id="58" name="Google Shape;58;p2">
            <a:extLst>
              <a:ext uri="{FF2B5EF4-FFF2-40B4-BE49-F238E27FC236}">
                <a16:creationId xmlns:a16="http://schemas.microsoft.com/office/drawing/2014/main" id="{D3787F9C-AEA8-B3AC-AE43-EA5CEBD16CE4}"/>
              </a:ext>
            </a:extLst>
          </p:cNvPr>
          <p:cNvSpPr txBox="1">
            <a:spLocks noGrp="1"/>
          </p:cNvSpPr>
          <p:nvPr>
            <p:ph type="title"/>
          </p:nvPr>
        </p:nvSpPr>
        <p:spPr>
          <a:xfrm>
            <a:off x="1016000" y="404817"/>
            <a:ext cx="15571469" cy="78226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u="sng" dirty="0">
                <a:solidFill>
                  <a:srgbClr val="000000"/>
                </a:solidFill>
              </a:rPr>
              <a:t>Problem Statement:</a:t>
            </a:r>
            <a:endParaRPr u="sng" dirty="0">
              <a:solidFill>
                <a:srgbClr val="000000"/>
              </a:solidFill>
            </a:endParaRPr>
          </a:p>
        </p:txBody>
      </p:sp>
      <p:sp>
        <p:nvSpPr>
          <p:cNvPr id="59" name="Google Shape;59;p2">
            <a:extLst>
              <a:ext uri="{FF2B5EF4-FFF2-40B4-BE49-F238E27FC236}">
                <a16:creationId xmlns:a16="http://schemas.microsoft.com/office/drawing/2014/main" id="{C82AC07A-D829-1B36-6C96-C08D611AFA2A}"/>
              </a:ext>
            </a:extLst>
          </p:cNvPr>
          <p:cNvSpPr/>
          <p:nvPr/>
        </p:nvSpPr>
        <p:spPr>
          <a:xfrm>
            <a:off x="0" y="8697718"/>
            <a:ext cx="18288000" cy="1590675"/>
          </a:xfrm>
          <a:custGeom>
            <a:avLst/>
            <a:gdLst/>
            <a:ahLst/>
            <a:cxnLst/>
            <a:rect l="l" t="t" r="r" b="b"/>
            <a:pathLst>
              <a:path w="18288000" h="1590675" extrusionOk="0">
                <a:moveTo>
                  <a:pt x="18287998" y="1590674"/>
                </a:moveTo>
                <a:lnTo>
                  <a:pt x="0" y="1590674"/>
                </a:lnTo>
                <a:lnTo>
                  <a:pt x="0" y="0"/>
                </a:lnTo>
                <a:lnTo>
                  <a:pt x="18287998" y="0"/>
                </a:lnTo>
                <a:lnTo>
                  <a:pt x="18287998" y="1590674"/>
                </a:lnTo>
                <a:close/>
              </a:path>
            </a:pathLst>
          </a:custGeom>
          <a:solidFill>
            <a:srgbClr val="99B83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Rectangle 2">
            <a:extLst>
              <a:ext uri="{FF2B5EF4-FFF2-40B4-BE49-F238E27FC236}">
                <a16:creationId xmlns:a16="http://schemas.microsoft.com/office/drawing/2014/main" id="{14C23C1A-9229-8D74-2F12-4BB10C090B76}"/>
              </a:ext>
            </a:extLst>
          </p:cNvPr>
          <p:cNvSpPr>
            <a:spLocks noChangeArrowheads="1"/>
          </p:cNvSpPr>
          <p:nvPr/>
        </p:nvSpPr>
        <p:spPr bwMode="auto">
          <a:xfrm rot="10800000" flipV="1">
            <a:off x="749899" y="2126244"/>
            <a:ext cx="1678820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Urban traffic congestion is highly dynamic, varying minute-to-minute due to time-of-day patterns, incidents, weather, and local events. Most intersections still operate on </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fixed-time</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or minimally adaptive signal plans that </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cannot respond to real-time demand</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causing queue spillback, wasted green time, and corridor-level gridlock. Cities need a system that can </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forecast congestion in the next few minutes</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(short-horizon) and translate those predictions into </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safe, constraint-aware signal timing recommendations</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The solution must respect real-world operational constraints such as </a:t>
            </a:r>
            <a:r>
              <a:rPr kumimoji="0" lang="en-US" altLang="en-US" sz="3600" b="1" i="0" u="none" strike="noStrike" cap="none" normalizeH="0" baseline="0" dirty="0">
                <a:ln>
                  <a:noFill/>
                </a:ln>
                <a:effectLst/>
                <a:latin typeface="Times New Roman" panose="02020603050405020304" pitchFamily="18" charset="0"/>
                <a:cs typeface="Times New Roman" panose="02020603050405020304" pitchFamily="18" charset="0"/>
              </a:rPr>
              <a:t>minimum/maximum green times, pedestrian crossing phases, coordination across adjacent signals, and fairness across approaches</a:t>
            </a:r>
            <a:r>
              <a:rPr kumimoji="0" lang="en-US" altLang="en-US" sz="3600" b="0" i="0" u="none" strike="noStrike" cap="none" normalizeH="0" baseline="0" dirty="0">
                <a:ln>
                  <a:noFill/>
                </a:ln>
                <a:effectLst/>
                <a:latin typeface="Times New Roman" panose="02020603050405020304" pitchFamily="18" charset="0"/>
                <a:cs typeface="Times New Roman" panose="02020603050405020304" pitchFamily="18" charset="0"/>
              </a:rPr>
              <a:t> (no starvation), while remaining robust to noisy or missing sensor inputs.</a:t>
            </a:r>
          </a:p>
        </p:txBody>
      </p:sp>
    </p:spTree>
    <p:extLst>
      <p:ext uri="{BB962C8B-B14F-4D97-AF65-F5344CB8AC3E}">
        <p14:creationId xmlns:p14="http://schemas.microsoft.com/office/powerpoint/2010/main" val="1410412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3"/>
        <p:cNvGrpSpPr/>
        <p:nvPr/>
      </p:nvGrpSpPr>
      <p:grpSpPr>
        <a:xfrm>
          <a:off x="0" y="0"/>
          <a:ext cx="0" cy="0"/>
          <a:chOff x="0" y="0"/>
          <a:chExt cx="0" cy="0"/>
        </a:xfrm>
      </p:grpSpPr>
      <p:sp>
        <p:nvSpPr>
          <p:cNvPr id="64" name="Google Shape;64;p3"/>
          <p:cNvSpPr/>
          <p:nvPr/>
        </p:nvSpPr>
        <p:spPr>
          <a:xfrm>
            <a:off x="0" y="8471000"/>
            <a:ext cx="18288000" cy="1816100"/>
          </a:xfrm>
          <a:custGeom>
            <a:avLst/>
            <a:gdLst/>
            <a:ahLst/>
            <a:cxnLst/>
            <a:rect l="l" t="t" r="r" b="b"/>
            <a:pathLst>
              <a:path w="18288000" h="1816100" extrusionOk="0">
                <a:moveTo>
                  <a:pt x="0" y="0"/>
                </a:moveTo>
                <a:lnTo>
                  <a:pt x="18287999" y="0"/>
                </a:lnTo>
                <a:lnTo>
                  <a:pt x="18287999" y="1815999"/>
                </a:lnTo>
                <a:lnTo>
                  <a:pt x="0" y="1815999"/>
                </a:lnTo>
                <a:lnTo>
                  <a:pt x="0" y="0"/>
                </a:lnTo>
                <a:close/>
              </a:path>
            </a:pathLst>
          </a:custGeom>
          <a:solidFill>
            <a:srgbClr val="D0A2E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65" name="Google Shape;65;p3"/>
          <p:cNvGrpSpPr/>
          <p:nvPr/>
        </p:nvGrpSpPr>
        <p:grpSpPr>
          <a:xfrm>
            <a:off x="14853105" y="276119"/>
            <a:ext cx="2766635" cy="3082821"/>
            <a:chOff x="14853105" y="276119"/>
            <a:chExt cx="2766635" cy="3082821"/>
          </a:xfrm>
        </p:grpSpPr>
        <p:sp>
          <p:nvSpPr>
            <p:cNvPr id="66" name="Google Shape;66;p3"/>
            <p:cNvSpPr/>
            <p:nvPr/>
          </p:nvSpPr>
          <p:spPr>
            <a:xfrm>
              <a:off x="14853105" y="276119"/>
              <a:ext cx="1847850" cy="1847850"/>
            </a:xfrm>
            <a:custGeom>
              <a:avLst/>
              <a:gdLst/>
              <a:ahLst/>
              <a:cxnLst/>
              <a:rect l="l" t="t" r="r" b="b"/>
              <a:pathLst>
                <a:path w="1847850" h="1847850" extrusionOk="0">
                  <a:moveTo>
                    <a:pt x="923924" y="1847849"/>
                  </a:moveTo>
                  <a:lnTo>
                    <a:pt x="833364" y="1843400"/>
                  </a:lnTo>
                  <a:lnTo>
                    <a:pt x="743676" y="1830096"/>
                  </a:lnTo>
                  <a:lnTo>
                    <a:pt x="655723" y="1808065"/>
                  </a:lnTo>
                  <a:lnTo>
                    <a:pt x="570354" y="1777520"/>
                  </a:lnTo>
                  <a:lnTo>
                    <a:pt x="488389" y="1738753"/>
                  </a:lnTo>
                  <a:lnTo>
                    <a:pt x="410619" y="1692140"/>
                  </a:lnTo>
                  <a:lnTo>
                    <a:pt x="337793" y="1638128"/>
                  </a:lnTo>
                  <a:lnTo>
                    <a:pt x="270611" y="1577238"/>
                  </a:lnTo>
                  <a:lnTo>
                    <a:pt x="209721" y="1510056"/>
                  </a:lnTo>
                  <a:lnTo>
                    <a:pt x="155709" y="1437229"/>
                  </a:lnTo>
                  <a:lnTo>
                    <a:pt x="109095" y="1359460"/>
                  </a:lnTo>
                  <a:lnTo>
                    <a:pt x="70329" y="1277495"/>
                  </a:lnTo>
                  <a:lnTo>
                    <a:pt x="39783" y="1192126"/>
                  </a:lnTo>
                  <a:lnTo>
                    <a:pt x="17752" y="1104173"/>
                  </a:lnTo>
                  <a:lnTo>
                    <a:pt x="4448" y="1014485"/>
                  </a:lnTo>
                  <a:lnTo>
                    <a:pt x="0" y="923924"/>
                  </a:lnTo>
                  <a:lnTo>
                    <a:pt x="4448" y="833364"/>
                  </a:lnTo>
                  <a:lnTo>
                    <a:pt x="17752" y="743676"/>
                  </a:lnTo>
                  <a:lnTo>
                    <a:pt x="39783" y="655723"/>
                  </a:lnTo>
                  <a:lnTo>
                    <a:pt x="70329" y="570354"/>
                  </a:lnTo>
                  <a:lnTo>
                    <a:pt x="109095" y="488389"/>
                  </a:lnTo>
                  <a:lnTo>
                    <a:pt x="155709" y="410619"/>
                  </a:lnTo>
                  <a:lnTo>
                    <a:pt x="209721" y="337793"/>
                  </a:lnTo>
                  <a:lnTo>
                    <a:pt x="270611" y="270611"/>
                  </a:lnTo>
                  <a:lnTo>
                    <a:pt x="337793" y="209721"/>
                  </a:lnTo>
                  <a:lnTo>
                    <a:pt x="410619" y="155709"/>
                  </a:lnTo>
                  <a:lnTo>
                    <a:pt x="488389" y="109095"/>
                  </a:lnTo>
                  <a:lnTo>
                    <a:pt x="570354" y="70329"/>
                  </a:lnTo>
                  <a:lnTo>
                    <a:pt x="655723" y="39783"/>
                  </a:lnTo>
                  <a:lnTo>
                    <a:pt x="743676" y="17752"/>
                  </a:lnTo>
                  <a:lnTo>
                    <a:pt x="833364" y="4448"/>
                  </a:lnTo>
                  <a:lnTo>
                    <a:pt x="923924" y="0"/>
                  </a:lnTo>
                  <a:lnTo>
                    <a:pt x="1014485" y="4448"/>
                  </a:lnTo>
                  <a:lnTo>
                    <a:pt x="1104173" y="17752"/>
                  </a:lnTo>
                  <a:lnTo>
                    <a:pt x="1192126" y="39783"/>
                  </a:lnTo>
                  <a:lnTo>
                    <a:pt x="1277495" y="70329"/>
                  </a:lnTo>
                  <a:lnTo>
                    <a:pt x="1359460" y="109095"/>
                  </a:lnTo>
                  <a:lnTo>
                    <a:pt x="1437229" y="155709"/>
                  </a:lnTo>
                  <a:lnTo>
                    <a:pt x="1510056" y="209721"/>
                  </a:lnTo>
                  <a:lnTo>
                    <a:pt x="1577238" y="270611"/>
                  </a:lnTo>
                  <a:lnTo>
                    <a:pt x="1638128" y="337793"/>
                  </a:lnTo>
                  <a:lnTo>
                    <a:pt x="1692140" y="410619"/>
                  </a:lnTo>
                  <a:lnTo>
                    <a:pt x="1738753" y="488389"/>
                  </a:lnTo>
                  <a:lnTo>
                    <a:pt x="1777520" y="570354"/>
                  </a:lnTo>
                  <a:lnTo>
                    <a:pt x="1808066" y="655723"/>
                  </a:lnTo>
                  <a:lnTo>
                    <a:pt x="1830096" y="743676"/>
                  </a:lnTo>
                  <a:lnTo>
                    <a:pt x="1843400" y="833364"/>
                  </a:lnTo>
                  <a:lnTo>
                    <a:pt x="1847849" y="923924"/>
                  </a:lnTo>
                  <a:lnTo>
                    <a:pt x="1843400" y="1014485"/>
                  </a:lnTo>
                  <a:lnTo>
                    <a:pt x="1830096" y="1104173"/>
                  </a:lnTo>
                  <a:lnTo>
                    <a:pt x="1808065" y="1192126"/>
                  </a:lnTo>
                  <a:lnTo>
                    <a:pt x="1777520" y="1277495"/>
                  </a:lnTo>
                  <a:lnTo>
                    <a:pt x="1738753" y="1359460"/>
                  </a:lnTo>
                  <a:lnTo>
                    <a:pt x="1692140" y="1437229"/>
                  </a:lnTo>
                  <a:lnTo>
                    <a:pt x="1638128" y="1510056"/>
                  </a:lnTo>
                  <a:lnTo>
                    <a:pt x="1577238" y="1577238"/>
                  </a:lnTo>
                  <a:lnTo>
                    <a:pt x="1510056" y="1638128"/>
                  </a:lnTo>
                  <a:lnTo>
                    <a:pt x="1437229" y="1692140"/>
                  </a:lnTo>
                  <a:lnTo>
                    <a:pt x="1359460" y="1738753"/>
                  </a:lnTo>
                  <a:lnTo>
                    <a:pt x="1277495" y="1777520"/>
                  </a:lnTo>
                  <a:lnTo>
                    <a:pt x="1192126" y="1808066"/>
                  </a:lnTo>
                  <a:lnTo>
                    <a:pt x="1104173" y="1830096"/>
                  </a:lnTo>
                  <a:lnTo>
                    <a:pt x="1014485" y="1843400"/>
                  </a:lnTo>
                  <a:lnTo>
                    <a:pt x="923924" y="1847849"/>
                  </a:lnTo>
                  <a:close/>
                </a:path>
              </a:pathLst>
            </a:custGeom>
            <a:solidFill>
              <a:srgbClr val="FDCB5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3"/>
            <p:cNvSpPr/>
            <p:nvPr/>
          </p:nvSpPr>
          <p:spPr>
            <a:xfrm>
              <a:off x="15811047" y="2137835"/>
              <a:ext cx="1621790" cy="1221105"/>
            </a:xfrm>
            <a:custGeom>
              <a:avLst/>
              <a:gdLst/>
              <a:ahLst/>
              <a:cxnLst/>
              <a:rect l="l" t="t" r="r" b="b"/>
              <a:pathLst>
                <a:path w="1621790" h="1221104" extrusionOk="0">
                  <a:moveTo>
                    <a:pt x="1548408" y="1220646"/>
                  </a:moveTo>
                  <a:lnTo>
                    <a:pt x="75271" y="1220646"/>
                  </a:lnTo>
                  <a:lnTo>
                    <a:pt x="31045" y="1212153"/>
                  </a:lnTo>
                  <a:lnTo>
                    <a:pt x="5321" y="1189032"/>
                  </a:lnTo>
                  <a:lnTo>
                    <a:pt x="0" y="1154820"/>
                  </a:lnTo>
                  <a:lnTo>
                    <a:pt x="16986" y="1113053"/>
                  </a:lnTo>
                  <a:lnTo>
                    <a:pt x="710001" y="45079"/>
                  </a:lnTo>
                  <a:lnTo>
                    <a:pt x="742889" y="11613"/>
                  </a:lnTo>
                  <a:lnTo>
                    <a:pt x="780863" y="0"/>
                  </a:lnTo>
                  <a:lnTo>
                    <a:pt x="819210" y="10316"/>
                  </a:lnTo>
                  <a:lnTo>
                    <a:pt x="853215" y="42641"/>
                  </a:lnTo>
                  <a:lnTo>
                    <a:pt x="1603106" y="1115491"/>
                  </a:lnTo>
                  <a:lnTo>
                    <a:pt x="1621463" y="1156336"/>
                  </a:lnTo>
                  <a:lnTo>
                    <a:pt x="1617285" y="1189770"/>
                  </a:lnTo>
                  <a:lnTo>
                    <a:pt x="1592343" y="1212354"/>
                  </a:lnTo>
                  <a:lnTo>
                    <a:pt x="1548408" y="1220646"/>
                  </a:lnTo>
                  <a:close/>
                </a:path>
              </a:pathLst>
            </a:custGeom>
            <a:solidFill>
              <a:srgbClr val="E759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3"/>
            <p:cNvSpPr/>
            <p:nvPr/>
          </p:nvSpPr>
          <p:spPr>
            <a:xfrm>
              <a:off x="16895840" y="1393313"/>
              <a:ext cx="723900" cy="723900"/>
            </a:xfrm>
            <a:custGeom>
              <a:avLst/>
              <a:gdLst/>
              <a:ahLst/>
              <a:cxnLst/>
              <a:rect l="l" t="t" r="r" b="b"/>
              <a:pathLst>
                <a:path w="723900" h="723900" extrusionOk="0">
                  <a:moveTo>
                    <a:pt x="361949" y="723899"/>
                  </a:moveTo>
                  <a:lnTo>
                    <a:pt x="308840" y="719982"/>
                  </a:lnTo>
                  <a:lnTo>
                    <a:pt x="256881" y="708314"/>
                  </a:lnTo>
                  <a:lnTo>
                    <a:pt x="207196" y="689149"/>
                  </a:lnTo>
                  <a:lnTo>
                    <a:pt x="160861" y="662900"/>
                  </a:lnTo>
                  <a:lnTo>
                    <a:pt x="118879" y="630137"/>
                  </a:lnTo>
                  <a:lnTo>
                    <a:pt x="82158" y="591568"/>
                  </a:lnTo>
                  <a:lnTo>
                    <a:pt x="51494" y="548029"/>
                  </a:lnTo>
                  <a:lnTo>
                    <a:pt x="27551" y="500462"/>
                  </a:lnTo>
                  <a:lnTo>
                    <a:pt x="10846" y="449896"/>
                  </a:lnTo>
                  <a:lnTo>
                    <a:pt x="1742" y="397427"/>
                  </a:lnTo>
                  <a:lnTo>
                    <a:pt x="0" y="361949"/>
                  </a:lnTo>
                  <a:lnTo>
                    <a:pt x="435" y="344189"/>
                  </a:lnTo>
                  <a:lnTo>
                    <a:pt x="6954" y="291337"/>
                  </a:lnTo>
                  <a:lnTo>
                    <a:pt x="21157" y="240012"/>
                  </a:lnTo>
                  <a:lnTo>
                    <a:pt x="42738" y="191327"/>
                  </a:lnTo>
                  <a:lnTo>
                    <a:pt x="71228" y="146336"/>
                  </a:lnTo>
                  <a:lnTo>
                    <a:pt x="106012" y="106012"/>
                  </a:lnTo>
                  <a:lnTo>
                    <a:pt x="146336" y="71228"/>
                  </a:lnTo>
                  <a:lnTo>
                    <a:pt x="191327" y="42738"/>
                  </a:lnTo>
                  <a:lnTo>
                    <a:pt x="240012" y="21157"/>
                  </a:lnTo>
                  <a:lnTo>
                    <a:pt x="291337" y="6954"/>
                  </a:lnTo>
                  <a:lnTo>
                    <a:pt x="344189" y="435"/>
                  </a:lnTo>
                  <a:lnTo>
                    <a:pt x="361949" y="0"/>
                  </a:lnTo>
                  <a:lnTo>
                    <a:pt x="379710" y="435"/>
                  </a:lnTo>
                  <a:lnTo>
                    <a:pt x="432562" y="6954"/>
                  </a:lnTo>
                  <a:lnTo>
                    <a:pt x="483887" y="21157"/>
                  </a:lnTo>
                  <a:lnTo>
                    <a:pt x="532571" y="42738"/>
                  </a:lnTo>
                  <a:lnTo>
                    <a:pt x="577563" y="71228"/>
                  </a:lnTo>
                  <a:lnTo>
                    <a:pt x="617887" y="106012"/>
                  </a:lnTo>
                  <a:lnTo>
                    <a:pt x="652671" y="146336"/>
                  </a:lnTo>
                  <a:lnTo>
                    <a:pt x="681161" y="191327"/>
                  </a:lnTo>
                  <a:lnTo>
                    <a:pt x="702742" y="240012"/>
                  </a:lnTo>
                  <a:lnTo>
                    <a:pt x="716945" y="291337"/>
                  </a:lnTo>
                  <a:lnTo>
                    <a:pt x="723464" y="344189"/>
                  </a:lnTo>
                  <a:lnTo>
                    <a:pt x="723899" y="361949"/>
                  </a:lnTo>
                  <a:lnTo>
                    <a:pt x="723464" y="379710"/>
                  </a:lnTo>
                  <a:lnTo>
                    <a:pt x="716945" y="432562"/>
                  </a:lnTo>
                  <a:lnTo>
                    <a:pt x="702741" y="483887"/>
                  </a:lnTo>
                  <a:lnTo>
                    <a:pt x="681161" y="532571"/>
                  </a:lnTo>
                  <a:lnTo>
                    <a:pt x="652671" y="577563"/>
                  </a:lnTo>
                  <a:lnTo>
                    <a:pt x="617887" y="617887"/>
                  </a:lnTo>
                  <a:lnTo>
                    <a:pt x="577563" y="652671"/>
                  </a:lnTo>
                  <a:lnTo>
                    <a:pt x="532571" y="681161"/>
                  </a:lnTo>
                  <a:lnTo>
                    <a:pt x="483887" y="702742"/>
                  </a:lnTo>
                  <a:lnTo>
                    <a:pt x="432562" y="716945"/>
                  </a:lnTo>
                  <a:lnTo>
                    <a:pt x="379710" y="723464"/>
                  </a:lnTo>
                  <a:lnTo>
                    <a:pt x="361949" y="723899"/>
                  </a:lnTo>
                  <a:close/>
                </a:path>
              </a:pathLst>
            </a:custGeom>
            <a:solidFill>
              <a:srgbClr val="54AB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9" name="Google Shape;69;p3"/>
          <p:cNvSpPr txBox="1">
            <a:spLocks noGrp="1"/>
          </p:cNvSpPr>
          <p:nvPr>
            <p:ph type="title"/>
          </p:nvPr>
        </p:nvSpPr>
        <p:spPr>
          <a:xfrm>
            <a:off x="511727" y="289628"/>
            <a:ext cx="8914130" cy="7264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600">
                <a:solidFill>
                  <a:srgbClr val="000000"/>
                </a:solidFill>
              </a:rPr>
              <a:t>Architecture and functionalities</a:t>
            </a:r>
            <a:endParaRPr sz="4600"/>
          </a:p>
        </p:txBody>
      </p:sp>
      <p:sp>
        <p:nvSpPr>
          <p:cNvPr id="70" name="Google Shape;70;p3"/>
          <p:cNvSpPr txBox="1"/>
          <p:nvPr/>
        </p:nvSpPr>
        <p:spPr>
          <a:xfrm>
            <a:off x="511727" y="1866900"/>
            <a:ext cx="16921110" cy="3209966"/>
          </a:xfrm>
          <a:prstGeom prst="rect">
            <a:avLst/>
          </a:prstGeom>
          <a:noFill/>
          <a:ln>
            <a:noFill/>
          </a:ln>
        </p:spPr>
        <p:txBody>
          <a:bodyPr spcFirstLastPara="1" wrap="square" lIns="0" tIns="12050" rIns="0" bIns="0" anchor="t" anchorCtr="0">
            <a:spAutoFit/>
          </a:bodyPr>
          <a:lstStyle/>
          <a:p>
            <a:pPr marL="0" indent="0">
              <a:lnSpc>
                <a:spcPct val="110000"/>
              </a:lnSpc>
              <a:buNone/>
            </a:pPr>
            <a:r>
              <a:rPr lang="en-US" sz="3200" dirty="0">
                <a:latin typeface="Times New Roman" panose="02020603050405020304" pitchFamily="18" charset="0"/>
                <a:ea typeface="Calibri" pitchFamily="34" charset="-122"/>
                <a:cs typeface="Times New Roman" panose="02020603050405020304" pitchFamily="18" charset="0"/>
              </a:rPr>
              <a:t>• Ingest traffic feeds (CCTV / GPS / maps) + context (events, weather).</a:t>
            </a:r>
            <a:endParaRPr lang="en-US" sz="3200" dirty="0">
              <a:latin typeface="Times New Roman" panose="02020603050405020304" pitchFamily="18" charset="0"/>
              <a:cs typeface="Times New Roman" panose="02020603050405020304" pitchFamily="18" charset="0"/>
            </a:endParaRPr>
          </a:p>
          <a:p>
            <a:pPr marL="0" indent="0">
              <a:lnSpc>
                <a:spcPct val="110000"/>
              </a:lnSpc>
              <a:buNone/>
            </a:pPr>
            <a:r>
              <a:rPr lang="en-US" sz="3200" dirty="0">
                <a:latin typeface="Times New Roman" panose="02020603050405020304" pitchFamily="18" charset="0"/>
                <a:ea typeface="Calibri" pitchFamily="34" charset="-122"/>
                <a:cs typeface="Times New Roman" panose="02020603050405020304" pitchFamily="18" charset="0"/>
              </a:rPr>
              <a:t>• Engineer features: time-window stats, speed/volume trends, road attributes.</a:t>
            </a:r>
            <a:endParaRPr lang="en-US" sz="3200" dirty="0">
              <a:latin typeface="Times New Roman" panose="02020603050405020304" pitchFamily="18" charset="0"/>
              <a:cs typeface="Times New Roman" panose="02020603050405020304" pitchFamily="18" charset="0"/>
            </a:endParaRPr>
          </a:p>
          <a:p>
            <a:pPr marL="0" indent="0">
              <a:lnSpc>
                <a:spcPct val="110000"/>
              </a:lnSpc>
              <a:buNone/>
            </a:pPr>
            <a:r>
              <a:rPr lang="en-US" sz="3200" dirty="0">
                <a:latin typeface="Times New Roman" panose="02020603050405020304" pitchFamily="18" charset="0"/>
                <a:ea typeface="Calibri" pitchFamily="34" charset="-122"/>
                <a:cs typeface="Times New Roman" panose="02020603050405020304" pitchFamily="18" charset="0"/>
              </a:rPr>
              <a:t>• Forecast congestion risk per segment/intersection (5–15 min horizon).</a:t>
            </a:r>
            <a:endParaRPr lang="en-US" sz="3200" dirty="0">
              <a:latin typeface="Times New Roman" panose="02020603050405020304" pitchFamily="18" charset="0"/>
              <a:cs typeface="Times New Roman" panose="02020603050405020304" pitchFamily="18" charset="0"/>
            </a:endParaRPr>
          </a:p>
          <a:p>
            <a:pPr marL="0" indent="0">
              <a:lnSpc>
                <a:spcPct val="110000"/>
              </a:lnSpc>
              <a:buNone/>
            </a:pPr>
            <a:r>
              <a:rPr lang="en-US" sz="3200" dirty="0">
                <a:latin typeface="Times New Roman" panose="02020603050405020304" pitchFamily="18" charset="0"/>
                <a:ea typeface="Calibri" pitchFamily="34" charset="-122"/>
                <a:cs typeface="Times New Roman" panose="02020603050405020304" pitchFamily="18" charset="0"/>
              </a:rPr>
              <a:t>• Optimize signal plans with safety and operational constraints.</a:t>
            </a:r>
            <a:endParaRPr lang="en-US" sz="3200" dirty="0">
              <a:latin typeface="Times New Roman" panose="02020603050405020304" pitchFamily="18" charset="0"/>
              <a:cs typeface="Times New Roman" panose="02020603050405020304" pitchFamily="18" charset="0"/>
            </a:endParaRPr>
          </a:p>
          <a:p>
            <a:pPr marL="0" indent="0">
              <a:lnSpc>
                <a:spcPct val="110000"/>
              </a:lnSpc>
              <a:buNone/>
            </a:pPr>
            <a:r>
              <a:rPr lang="en-US" sz="3200" dirty="0">
                <a:latin typeface="Times New Roman" panose="02020603050405020304" pitchFamily="18" charset="0"/>
                <a:ea typeface="Calibri" pitchFamily="34" charset="-122"/>
                <a:cs typeface="Times New Roman" panose="02020603050405020304" pitchFamily="18" charset="0"/>
              </a:rPr>
              <a:t>• Expose recommendations via dashboard + optional controller integration.</a:t>
            </a:r>
            <a:endParaRPr lang="en-US" sz="3200" dirty="0">
              <a:latin typeface="Times New Roman" panose="02020603050405020304" pitchFamily="18" charset="0"/>
              <a:cs typeface="Times New Roman" panose="02020603050405020304" pitchFamily="18" charset="0"/>
            </a:endParaRPr>
          </a:p>
          <a:p>
            <a:pPr marL="12065" marR="4599305" lvl="0" indent="-635" algn="ctr" rtl="0">
              <a:lnSpc>
                <a:spcPct val="106300"/>
              </a:lnSpc>
              <a:spcBef>
                <a:spcPts val="0"/>
              </a:spcBef>
              <a:spcAft>
                <a:spcPts val="0"/>
              </a:spcAft>
              <a:buNone/>
            </a:pPr>
            <a:r>
              <a:rPr lang="en-US" sz="3000" b="1" i="1" dirty="0">
                <a:solidFill>
                  <a:schemeClr val="dk1"/>
                </a:solidFill>
                <a:latin typeface="Times New Roman" panose="02020603050405020304" pitchFamily="18" charset="0"/>
                <a:ea typeface="Trebuchet MS"/>
                <a:cs typeface="Times New Roman" panose="02020603050405020304" pitchFamily="18" charset="0"/>
                <a:sym typeface="Trebuchet MS"/>
              </a:rPr>
              <a:t>                                                                 </a:t>
            </a:r>
            <a:r>
              <a:rPr lang="en-US" sz="3000" b="1" i="1" u="sng" dirty="0">
                <a:solidFill>
                  <a:schemeClr val="dk1"/>
                </a:solidFill>
                <a:latin typeface="Times New Roman" panose="02020603050405020304" pitchFamily="18" charset="0"/>
                <a:ea typeface="Trebuchet MS"/>
                <a:cs typeface="Times New Roman" panose="02020603050405020304" pitchFamily="18" charset="0"/>
                <a:sym typeface="Trebuchet MS"/>
              </a:rPr>
              <a:t>ARCHITECTURE DIAGRAM</a:t>
            </a:r>
            <a:endParaRPr sz="3800" b="1" i="1" u="sng" dirty="0">
              <a:solidFill>
                <a:schemeClr val="dk1"/>
              </a:solidFill>
              <a:latin typeface="Times New Roman" panose="02020603050405020304" pitchFamily="18" charset="0"/>
              <a:ea typeface="Trebuchet MS"/>
              <a:cs typeface="Times New Roman" panose="02020603050405020304" pitchFamily="18" charset="0"/>
              <a:sym typeface="Trebuchet MS"/>
            </a:endParaRPr>
          </a:p>
        </p:txBody>
      </p:sp>
      <p:pic>
        <p:nvPicPr>
          <p:cNvPr id="2" name="Image 0" descr="/mnt/data/trafficsense_arch.png">
            <a:extLst>
              <a:ext uri="{FF2B5EF4-FFF2-40B4-BE49-F238E27FC236}">
                <a16:creationId xmlns:a16="http://schemas.microsoft.com/office/drawing/2014/main" id="{4EBB619E-AA42-636B-36E6-561A63A65076}"/>
              </a:ext>
            </a:extLst>
          </p:cNvPr>
          <p:cNvPicPr>
            <a:picLocks noChangeAspect="1"/>
          </p:cNvPicPr>
          <p:nvPr/>
        </p:nvPicPr>
        <p:blipFill>
          <a:blip r:embed="rId3"/>
          <a:stretch>
            <a:fillRect/>
          </a:stretch>
        </p:blipFill>
        <p:spPr>
          <a:xfrm>
            <a:off x="318548" y="5076866"/>
            <a:ext cx="10126714" cy="33432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3">
          <a:extLst>
            <a:ext uri="{FF2B5EF4-FFF2-40B4-BE49-F238E27FC236}">
              <a16:creationId xmlns:a16="http://schemas.microsoft.com/office/drawing/2014/main" id="{25B103B2-A86E-A5E0-154E-18618E2CD8DA}"/>
            </a:ext>
          </a:extLst>
        </p:cNvPr>
        <p:cNvGrpSpPr/>
        <p:nvPr/>
      </p:nvGrpSpPr>
      <p:grpSpPr>
        <a:xfrm>
          <a:off x="0" y="0"/>
          <a:ext cx="0" cy="0"/>
          <a:chOff x="0" y="0"/>
          <a:chExt cx="0" cy="0"/>
        </a:xfrm>
      </p:grpSpPr>
      <p:sp>
        <p:nvSpPr>
          <p:cNvPr id="64" name="Google Shape;64;p3">
            <a:extLst>
              <a:ext uri="{FF2B5EF4-FFF2-40B4-BE49-F238E27FC236}">
                <a16:creationId xmlns:a16="http://schemas.microsoft.com/office/drawing/2014/main" id="{9578ED64-C23D-F65A-3841-A96BE15C4DD6}"/>
              </a:ext>
            </a:extLst>
          </p:cNvPr>
          <p:cNvSpPr/>
          <p:nvPr/>
        </p:nvSpPr>
        <p:spPr>
          <a:xfrm>
            <a:off x="0" y="8471000"/>
            <a:ext cx="18288000" cy="1816100"/>
          </a:xfrm>
          <a:custGeom>
            <a:avLst/>
            <a:gdLst/>
            <a:ahLst/>
            <a:cxnLst/>
            <a:rect l="l" t="t" r="r" b="b"/>
            <a:pathLst>
              <a:path w="18288000" h="1816100" extrusionOk="0">
                <a:moveTo>
                  <a:pt x="0" y="0"/>
                </a:moveTo>
                <a:lnTo>
                  <a:pt x="18287999" y="0"/>
                </a:lnTo>
                <a:lnTo>
                  <a:pt x="18287999" y="1815999"/>
                </a:lnTo>
                <a:lnTo>
                  <a:pt x="0" y="1815999"/>
                </a:lnTo>
                <a:lnTo>
                  <a:pt x="0" y="0"/>
                </a:lnTo>
                <a:close/>
              </a:path>
            </a:pathLst>
          </a:custGeom>
          <a:solidFill>
            <a:srgbClr val="D0A2E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65" name="Google Shape;65;p3">
            <a:extLst>
              <a:ext uri="{FF2B5EF4-FFF2-40B4-BE49-F238E27FC236}">
                <a16:creationId xmlns:a16="http://schemas.microsoft.com/office/drawing/2014/main" id="{F537CDF5-100C-E7C8-14C1-A321E1E27BF7}"/>
              </a:ext>
            </a:extLst>
          </p:cNvPr>
          <p:cNvGrpSpPr/>
          <p:nvPr/>
        </p:nvGrpSpPr>
        <p:grpSpPr>
          <a:xfrm>
            <a:off x="14853105" y="276119"/>
            <a:ext cx="2766635" cy="3082821"/>
            <a:chOff x="14853105" y="276119"/>
            <a:chExt cx="2766635" cy="3082821"/>
          </a:xfrm>
        </p:grpSpPr>
        <p:sp>
          <p:nvSpPr>
            <p:cNvPr id="66" name="Google Shape;66;p3">
              <a:extLst>
                <a:ext uri="{FF2B5EF4-FFF2-40B4-BE49-F238E27FC236}">
                  <a16:creationId xmlns:a16="http://schemas.microsoft.com/office/drawing/2014/main" id="{C8BA5E02-218C-5C3B-3A36-6C7C4ABA955F}"/>
                </a:ext>
              </a:extLst>
            </p:cNvPr>
            <p:cNvSpPr/>
            <p:nvPr/>
          </p:nvSpPr>
          <p:spPr>
            <a:xfrm>
              <a:off x="14853105" y="276119"/>
              <a:ext cx="1847850" cy="1847850"/>
            </a:xfrm>
            <a:custGeom>
              <a:avLst/>
              <a:gdLst/>
              <a:ahLst/>
              <a:cxnLst/>
              <a:rect l="l" t="t" r="r" b="b"/>
              <a:pathLst>
                <a:path w="1847850" h="1847850" extrusionOk="0">
                  <a:moveTo>
                    <a:pt x="923924" y="1847849"/>
                  </a:moveTo>
                  <a:lnTo>
                    <a:pt x="833364" y="1843400"/>
                  </a:lnTo>
                  <a:lnTo>
                    <a:pt x="743676" y="1830096"/>
                  </a:lnTo>
                  <a:lnTo>
                    <a:pt x="655723" y="1808065"/>
                  </a:lnTo>
                  <a:lnTo>
                    <a:pt x="570354" y="1777520"/>
                  </a:lnTo>
                  <a:lnTo>
                    <a:pt x="488389" y="1738753"/>
                  </a:lnTo>
                  <a:lnTo>
                    <a:pt x="410619" y="1692140"/>
                  </a:lnTo>
                  <a:lnTo>
                    <a:pt x="337793" y="1638128"/>
                  </a:lnTo>
                  <a:lnTo>
                    <a:pt x="270611" y="1577238"/>
                  </a:lnTo>
                  <a:lnTo>
                    <a:pt x="209721" y="1510056"/>
                  </a:lnTo>
                  <a:lnTo>
                    <a:pt x="155709" y="1437229"/>
                  </a:lnTo>
                  <a:lnTo>
                    <a:pt x="109095" y="1359460"/>
                  </a:lnTo>
                  <a:lnTo>
                    <a:pt x="70329" y="1277495"/>
                  </a:lnTo>
                  <a:lnTo>
                    <a:pt x="39783" y="1192126"/>
                  </a:lnTo>
                  <a:lnTo>
                    <a:pt x="17752" y="1104173"/>
                  </a:lnTo>
                  <a:lnTo>
                    <a:pt x="4448" y="1014485"/>
                  </a:lnTo>
                  <a:lnTo>
                    <a:pt x="0" y="923924"/>
                  </a:lnTo>
                  <a:lnTo>
                    <a:pt x="4448" y="833364"/>
                  </a:lnTo>
                  <a:lnTo>
                    <a:pt x="17752" y="743676"/>
                  </a:lnTo>
                  <a:lnTo>
                    <a:pt x="39783" y="655723"/>
                  </a:lnTo>
                  <a:lnTo>
                    <a:pt x="70329" y="570354"/>
                  </a:lnTo>
                  <a:lnTo>
                    <a:pt x="109095" y="488389"/>
                  </a:lnTo>
                  <a:lnTo>
                    <a:pt x="155709" y="410619"/>
                  </a:lnTo>
                  <a:lnTo>
                    <a:pt x="209721" y="337793"/>
                  </a:lnTo>
                  <a:lnTo>
                    <a:pt x="270611" y="270611"/>
                  </a:lnTo>
                  <a:lnTo>
                    <a:pt x="337793" y="209721"/>
                  </a:lnTo>
                  <a:lnTo>
                    <a:pt x="410619" y="155709"/>
                  </a:lnTo>
                  <a:lnTo>
                    <a:pt x="488389" y="109095"/>
                  </a:lnTo>
                  <a:lnTo>
                    <a:pt x="570354" y="70329"/>
                  </a:lnTo>
                  <a:lnTo>
                    <a:pt x="655723" y="39783"/>
                  </a:lnTo>
                  <a:lnTo>
                    <a:pt x="743676" y="17752"/>
                  </a:lnTo>
                  <a:lnTo>
                    <a:pt x="833364" y="4448"/>
                  </a:lnTo>
                  <a:lnTo>
                    <a:pt x="923924" y="0"/>
                  </a:lnTo>
                  <a:lnTo>
                    <a:pt x="1014485" y="4448"/>
                  </a:lnTo>
                  <a:lnTo>
                    <a:pt x="1104173" y="17752"/>
                  </a:lnTo>
                  <a:lnTo>
                    <a:pt x="1192126" y="39783"/>
                  </a:lnTo>
                  <a:lnTo>
                    <a:pt x="1277495" y="70329"/>
                  </a:lnTo>
                  <a:lnTo>
                    <a:pt x="1359460" y="109095"/>
                  </a:lnTo>
                  <a:lnTo>
                    <a:pt x="1437229" y="155709"/>
                  </a:lnTo>
                  <a:lnTo>
                    <a:pt x="1510056" y="209721"/>
                  </a:lnTo>
                  <a:lnTo>
                    <a:pt x="1577238" y="270611"/>
                  </a:lnTo>
                  <a:lnTo>
                    <a:pt x="1638128" y="337793"/>
                  </a:lnTo>
                  <a:lnTo>
                    <a:pt x="1692140" y="410619"/>
                  </a:lnTo>
                  <a:lnTo>
                    <a:pt x="1738753" y="488389"/>
                  </a:lnTo>
                  <a:lnTo>
                    <a:pt x="1777520" y="570354"/>
                  </a:lnTo>
                  <a:lnTo>
                    <a:pt x="1808066" y="655723"/>
                  </a:lnTo>
                  <a:lnTo>
                    <a:pt x="1830096" y="743676"/>
                  </a:lnTo>
                  <a:lnTo>
                    <a:pt x="1843400" y="833364"/>
                  </a:lnTo>
                  <a:lnTo>
                    <a:pt x="1847849" y="923924"/>
                  </a:lnTo>
                  <a:lnTo>
                    <a:pt x="1843400" y="1014485"/>
                  </a:lnTo>
                  <a:lnTo>
                    <a:pt x="1830096" y="1104173"/>
                  </a:lnTo>
                  <a:lnTo>
                    <a:pt x="1808065" y="1192126"/>
                  </a:lnTo>
                  <a:lnTo>
                    <a:pt x="1777520" y="1277495"/>
                  </a:lnTo>
                  <a:lnTo>
                    <a:pt x="1738753" y="1359460"/>
                  </a:lnTo>
                  <a:lnTo>
                    <a:pt x="1692140" y="1437229"/>
                  </a:lnTo>
                  <a:lnTo>
                    <a:pt x="1638128" y="1510056"/>
                  </a:lnTo>
                  <a:lnTo>
                    <a:pt x="1577238" y="1577238"/>
                  </a:lnTo>
                  <a:lnTo>
                    <a:pt x="1510056" y="1638128"/>
                  </a:lnTo>
                  <a:lnTo>
                    <a:pt x="1437229" y="1692140"/>
                  </a:lnTo>
                  <a:lnTo>
                    <a:pt x="1359460" y="1738753"/>
                  </a:lnTo>
                  <a:lnTo>
                    <a:pt x="1277495" y="1777520"/>
                  </a:lnTo>
                  <a:lnTo>
                    <a:pt x="1192126" y="1808066"/>
                  </a:lnTo>
                  <a:lnTo>
                    <a:pt x="1104173" y="1830096"/>
                  </a:lnTo>
                  <a:lnTo>
                    <a:pt x="1014485" y="1843400"/>
                  </a:lnTo>
                  <a:lnTo>
                    <a:pt x="923924" y="1847849"/>
                  </a:lnTo>
                  <a:close/>
                </a:path>
              </a:pathLst>
            </a:custGeom>
            <a:solidFill>
              <a:srgbClr val="FDCB5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3">
              <a:extLst>
                <a:ext uri="{FF2B5EF4-FFF2-40B4-BE49-F238E27FC236}">
                  <a16:creationId xmlns:a16="http://schemas.microsoft.com/office/drawing/2014/main" id="{0B743B80-ADEB-072E-644B-A29C2A9676A5}"/>
                </a:ext>
              </a:extLst>
            </p:cNvPr>
            <p:cNvSpPr/>
            <p:nvPr/>
          </p:nvSpPr>
          <p:spPr>
            <a:xfrm>
              <a:off x="15811047" y="2137835"/>
              <a:ext cx="1621790" cy="1221105"/>
            </a:xfrm>
            <a:custGeom>
              <a:avLst/>
              <a:gdLst/>
              <a:ahLst/>
              <a:cxnLst/>
              <a:rect l="l" t="t" r="r" b="b"/>
              <a:pathLst>
                <a:path w="1621790" h="1221104" extrusionOk="0">
                  <a:moveTo>
                    <a:pt x="1548408" y="1220646"/>
                  </a:moveTo>
                  <a:lnTo>
                    <a:pt x="75271" y="1220646"/>
                  </a:lnTo>
                  <a:lnTo>
                    <a:pt x="31045" y="1212153"/>
                  </a:lnTo>
                  <a:lnTo>
                    <a:pt x="5321" y="1189032"/>
                  </a:lnTo>
                  <a:lnTo>
                    <a:pt x="0" y="1154820"/>
                  </a:lnTo>
                  <a:lnTo>
                    <a:pt x="16986" y="1113053"/>
                  </a:lnTo>
                  <a:lnTo>
                    <a:pt x="710001" y="45079"/>
                  </a:lnTo>
                  <a:lnTo>
                    <a:pt x="742889" y="11613"/>
                  </a:lnTo>
                  <a:lnTo>
                    <a:pt x="780863" y="0"/>
                  </a:lnTo>
                  <a:lnTo>
                    <a:pt x="819210" y="10316"/>
                  </a:lnTo>
                  <a:lnTo>
                    <a:pt x="853215" y="42641"/>
                  </a:lnTo>
                  <a:lnTo>
                    <a:pt x="1603106" y="1115491"/>
                  </a:lnTo>
                  <a:lnTo>
                    <a:pt x="1621463" y="1156336"/>
                  </a:lnTo>
                  <a:lnTo>
                    <a:pt x="1617285" y="1189770"/>
                  </a:lnTo>
                  <a:lnTo>
                    <a:pt x="1592343" y="1212354"/>
                  </a:lnTo>
                  <a:lnTo>
                    <a:pt x="1548408" y="1220646"/>
                  </a:lnTo>
                  <a:close/>
                </a:path>
              </a:pathLst>
            </a:custGeom>
            <a:solidFill>
              <a:srgbClr val="E7596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68;p3">
              <a:extLst>
                <a:ext uri="{FF2B5EF4-FFF2-40B4-BE49-F238E27FC236}">
                  <a16:creationId xmlns:a16="http://schemas.microsoft.com/office/drawing/2014/main" id="{A949D9D4-BF0D-A003-3F41-4E5093FE8D69}"/>
                </a:ext>
              </a:extLst>
            </p:cNvPr>
            <p:cNvSpPr/>
            <p:nvPr/>
          </p:nvSpPr>
          <p:spPr>
            <a:xfrm>
              <a:off x="16895840" y="1393313"/>
              <a:ext cx="723900" cy="723900"/>
            </a:xfrm>
            <a:custGeom>
              <a:avLst/>
              <a:gdLst/>
              <a:ahLst/>
              <a:cxnLst/>
              <a:rect l="l" t="t" r="r" b="b"/>
              <a:pathLst>
                <a:path w="723900" h="723900" extrusionOk="0">
                  <a:moveTo>
                    <a:pt x="361949" y="723899"/>
                  </a:moveTo>
                  <a:lnTo>
                    <a:pt x="308840" y="719982"/>
                  </a:lnTo>
                  <a:lnTo>
                    <a:pt x="256881" y="708314"/>
                  </a:lnTo>
                  <a:lnTo>
                    <a:pt x="207196" y="689149"/>
                  </a:lnTo>
                  <a:lnTo>
                    <a:pt x="160861" y="662900"/>
                  </a:lnTo>
                  <a:lnTo>
                    <a:pt x="118879" y="630137"/>
                  </a:lnTo>
                  <a:lnTo>
                    <a:pt x="82158" y="591568"/>
                  </a:lnTo>
                  <a:lnTo>
                    <a:pt x="51494" y="548029"/>
                  </a:lnTo>
                  <a:lnTo>
                    <a:pt x="27551" y="500462"/>
                  </a:lnTo>
                  <a:lnTo>
                    <a:pt x="10846" y="449896"/>
                  </a:lnTo>
                  <a:lnTo>
                    <a:pt x="1742" y="397427"/>
                  </a:lnTo>
                  <a:lnTo>
                    <a:pt x="0" y="361949"/>
                  </a:lnTo>
                  <a:lnTo>
                    <a:pt x="435" y="344189"/>
                  </a:lnTo>
                  <a:lnTo>
                    <a:pt x="6954" y="291337"/>
                  </a:lnTo>
                  <a:lnTo>
                    <a:pt x="21157" y="240012"/>
                  </a:lnTo>
                  <a:lnTo>
                    <a:pt x="42738" y="191327"/>
                  </a:lnTo>
                  <a:lnTo>
                    <a:pt x="71228" y="146336"/>
                  </a:lnTo>
                  <a:lnTo>
                    <a:pt x="106012" y="106012"/>
                  </a:lnTo>
                  <a:lnTo>
                    <a:pt x="146336" y="71228"/>
                  </a:lnTo>
                  <a:lnTo>
                    <a:pt x="191327" y="42738"/>
                  </a:lnTo>
                  <a:lnTo>
                    <a:pt x="240012" y="21157"/>
                  </a:lnTo>
                  <a:lnTo>
                    <a:pt x="291337" y="6954"/>
                  </a:lnTo>
                  <a:lnTo>
                    <a:pt x="344189" y="435"/>
                  </a:lnTo>
                  <a:lnTo>
                    <a:pt x="361949" y="0"/>
                  </a:lnTo>
                  <a:lnTo>
                    <a:pt x="379710" y="435"/>
                  </a:lnTo>
                  <a:lnTo>
                    <a:pt x="432562" y="6954"/>
                  </a:lnTo>
                  <a:lnTo>
                    <a:pt x="483887" y="21157"/>
                  </a:lnTo>
                  <a:lnTo>
                    <a:pt x="532571" y="42738"/>
                  </a:lnTo>
                  <a:lnTo>
                    <a:pt x="577563" y="71228"/>
                  </a:lnTo>
                  <a:lnTo>
                    <a:pt x="617887" y="106012"/>
                  </a:lnTo>
                  <a:lnTo>
                    <a:pt x="652671" y="146336"/>
                  </a:lnTo>
                  <a:lnTo>
                    <a:pt x="681161" y="191327"/>
                  </a:lnTo>
                  <a:lnTo>
                    <a:pt x="702742" y="240012"/>
                  </a:lnTo>
                  <a:lnTo>
                    <a:pt x="716945" y="291337"/>
                  </a:lnTo>
                  <a:lnTo>
                    <a:pt x="723464" y="344189"/>
                  </a:lnTo>
                  <a:lnTo>
                    <a:pt x="723899" y="361949"/>
                  </a:lnTo>
                  <a:lnTo>
                    <a:pt x="723464" y="379710"/>
                  </a:lnTo>
                  <a:lnTo>
                    <a:pt x="716945" y="432562"/>
                  </a:lnTo>
                  <a:lnTo>
                    <a:pt x="702741" y="483887"/>
                  </a:lnTo>
                  <a:lnTo>
                    <a:pt x="681161" y="532571"/>
                  </a:lnTo>
                  <a:lnTo>
                    <a:pt x="652671" y="577563"/>
                  </a:lnTo>
                  <a:lnTo>
                    <a:pt x="617887" y="617887"/>
                  </a:lnTo>
                  <a:lnTo>
                    <a:pt x="577563" y="652671"/>
                  </a:lnTo>
                  <a:lnTo>
                    <a:pt x="532571" y="681161"/>
                  </a:lnTo>
                  <a:lnTo>
                    <a:pt x="483887" y="702742"/>
                  </a:lnTo>
                  <a:lnTo>
                    <a:pt x="432562" y="716945"/>
                  </a:lnTo>
                  <a:lnTo>
                    <a:pt x="379710" y="723464"/>
                  </a:lnTo>
                  <a:lnTo>
                    <a:pt x="361949" y="723899"/>
                  </a:lnTo>
                  <a:close/>
                </a:path>
              </a:pathLst>
            </a:custGeom>
            <a:solidFill>
              <a:srgbClr val="54AB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9" name="Google Shape;69;p3">
            <a:extLst>
              <a:ext uri="{FF2B5EF4-FFF2-40B4-BE49-F238E27FC236}">
                <a16:creationId xmlns:a16="http://schemas.microsoft.com/office/drawing/2014/main" id="{DFC1D0E1-06ED-3B85-29BC-F7E0F40D4F41}"/>
              </a:ext>
            </a:extLst>
          </p:cNvPr>
          <p:cNvSpPr txBox="1">
            <a:spLocks noGrp="1"/>
          </p:cNvSpPr>
          <p:nvPr>
            <p:ph type="title"/>
          </p:nvPr>
        </p:nvSpPr>
        <p:spPr>
          <a:xfrm>
            <a:off x="511727" y="289628"/>
            <a:ext cx="8914130" cy="7264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600" dirty="0">
                <a:solidFill>
                  <a:srgbClr val="000000"/>
                </a:solidFill>
              </a:rPr>
              <a:t>Working of </a:t>
            </a:r>
            <a:r>
              <a:rPr lang="en-US" sz="4600" dirty="0" err="1">
                <a:solidFill>
                  <a:srgbClr val="000000"/>
                </a:solidFill>
              </a:rPr>
              <a:t>TrafficSense</a:t>
            </a:r>
            <a:endParaRPr sz="4600" dirty="0"/>
          </a:p>
        </p:txBody>
      </p:sp>
      <p:sp>
        <p:nvSpPr>
          <p:cNvPr id="70" name="Google Shape;70;p3">
            <a:extLst>
              <a:ext uri="{FF2B5EF4-FFF2-40B4-BE49-F238E27FC236}">
                <a16:creationId xmlns:a16="http://schemas.microsoft.com/office/drawing/2014/main" id="{4C039171-B4D9-7C29-DC28-D49041046D60}"/>
              </a:ext>
            </a:extLst>
          </p:cNvPr>
          <p:cNvSpPr txBox="1"/>
          <p:nvPr/>
        </p:nvSpPr>
        <p:spPr>
          <a:xfrm>
            <a:off x="965302" y="1755263"/>
            <a:ext cx="16921110" cy="3801025"/>
          </a:xfrm>
          <a:prstGeom prst="rect">
            <a:avLst/>
          </a:prstGeom>
          <a:noFill/>
          <a:ln>
            <a:noFill/>
          </a:ln>
        </p:spPr>
        <p:txBody>
          <a:bodyPr spcFirstLastPara="1" wrap="square" lIns="0" tIns="12050" rIns="0" bIns="0" anchor="t" anchorCtr="0">
            <a:spAutoFit/>
          </a:bodyPr>
          <a:lstStyle/>
          <a:p>
            <a:pPr marL="0" indent="0">
              <a:lnSpc>
                <a:spcPct val="112000"/>
              </a:lnSpc>
              <a:buNone/>
            </a:pPr>
            <a:r>
              <a:rPr lang="en-US" sz="3200" dirty="0">
                <a:latin typeface="Times New Roman" panose="02020603050405020304" pitchFamily="18" charset="0"/>
                <a:ea typeface="Calibri" pitchFamily="34" charset="-122"/>
                <a:cs typeface="Times New Roman" panose="02020603050405020304" pitchFamily="18" charset="0"/>
              </a:rPr>
              <a:t>1) Collect multi-source traffic signals + context features.</a:t>
            </a:r>
            <a:endParaRPr lang="en-US" sz="3200" dirty="0">
              <a:latin typeface="Times New Roman" panose="02020603050405020304" pitchFamily="18" charset="0"/>
              <a:cs typeface="Times New Roman" panose="02020603050405020304" pitchFamily="18" charset="0"/>
            </a:endParaRPr>
          </a:p>
          <a:p>
            <a:pPr marL="0" indent="0">
              <a:lnSpc>
                <a:spcPct val="112000"/>
              </a:lnSpc>
              <a:buNone/>
            </a:pPr>
            <a:r>
              <a:rPr lang="en-US" sz="3200" dirty="0">
                <a:latin typeface="Times New Roman" panose="02020603050405020304" pitchFamily="18" charset="0"/>
                <a:ea typeface="Calibri" pitchFamily="34" charset="-122"/>
                <a:cs typeface="Times New Roman" panose="02020603050405020304" pitchFamily="18" charset="0"/>
              </a:rPr>
              <a:t>2) Clean + aggregate into rolling time windows.</a:t>
            </a:r>
            <a:endParaRPr lang="en-US" sz="3200" dirty="0">
              <a:latin typeface="Times New Roman" panose="02020603050405020304" pitchFamily="18" charset="0"/>
              <a:cs typeface="Times New Roman" panose="02020603050405020304" pitchFamily="18" charset="0"/>
            </a:endParaRPr>
          </a:p>
          <a:p>
            <a:pPr marL="0" indent="0">
              <a:lnSpc>
                <a:spcPct val="112000"/>
              </a:lnSpc>
              <a:buNone/>
            </a:pPr>
            <a:r>
              <a:rPr lang="en-US" sz="3200" dirty="0">
                <a:latin typeface="Times New Roman" panose="02020603050405020304" pitchFamily="18" charset="0"/>
                <a:ea typeface="Calibri" pitchFamily="34" charset="-122"/>
                <a:cs typeface="Times New Roman" panose="02020603050405020304" pitchFamily="18" charset="0"/>
              </a:rPr>
              <a:t>3) Predict near-future congestion (risk score) per intersection.</a:t>
            </a:r>
            <a:endParaRPr lang="en-US" sz="3200" dirty="0">
              <a:latin typeface="Times New Roman" panose="02020603050405020304" pitchFamily="18" charset="0"/>
              <a:cs typeface="Times New Roman" panose="02020603050405020304" pitchFamily="18" charset="0"/>
            </a:endParaRPr>
          </a:p>
          <a:p>
            <a:pPr marL="0" indent="0">
              <a:lnSpc>
                <a:spcPct val="112000"/>
              </a:lnSpc>
              <a:buNone/>
            </a:pPr>
            <a:r>
              <a:rPr lang="en-US" sz="3200" dirty="0">
                <a:latin typeface="Times New Roman" panose="02020603050405020304" pitchFamily="18" charset="0"/>
                <a:ea typeface="Calibri" pitchFamily="34" charset="-122"/>
                <a:cs typeface="Times New Roman" panose="02020603050405020304" pitchFamily="18" charset="0"/>
              </a:rPr>
              <a:t>4) Generate signal timing recommendations with constraints.</a:t>
            </a:r>
            <a:endParaRPr lang="en-US" sz="3200" dirty="0">
              <a:latin typeface="Times New Roman" panose="02020603050405020304" pitchFamily="18" charset="0"/>
              <a:cs typeface="Times New Roman" panose="02020603050405020304" pitchFamily="18" charset="0"/>
            </a:endParaRPr>
          </a:p>
          <a:p>
            <a:pPr marL="0" indent="0">
              <a:lnSpc>
                <a:spcPct val="112000"/>
              </a:lnSpc>
              <a:buNone/>
            </a:pPr>
            <a:r>
              <a:rPr lang="en-US" sz="3200" dirty="0">
                <a:latin typeface="Times New Roman" panose="02020603050405020304" pitchFamily="18" charset="0"/>
                <a:ea typeface="Calibri" pitchFamily="34" charset="-122"/>
                <a:cs typeface="Times New Roman" panose="02020603050405020304" pitchFamily="18" charset="0"/>
              </a:rPr>
              <a:t>5) Display heatmap/alerts; optionally push plan to controller.</a:t>
            </a:r>
            <a:endParaRPr lang="en-US" sz="3200" dirty="0">
              <a:latin typeface="Times New Roman" panose="02020603050405020304" pitchFamily="18" charset="0"/>
              <a:cs typeface="Times New Roman" panose="02020603050405020304" pitchFamily="18" charset="0"/>
            </a:endParaRPr>
          </a:p>
          <a:p>
            <a:pPr marL="0" indent="0">
              <a:lnSpc>
                <a:spcPct val="110000"/>
              </a:lnSpc>
              <a:buNone/>
            </a:pPr>
            <a:endParaRPr lang="en-US" sz="3200" dirty="0">
              <a:latin typeface="Times New Roman" panose="02020603050405020304" pitchFamily="18" charset="0"/>
              <a:cs typeface="Times New Roman" panose="02020603050405020304" pitchFamily="18" charset="0"/>
            </a:endParaRPr>
          </a:p>
          <a:p>
            <a:pPr marL="12065" marR="4599305" lvl="0" indent="-635" algn="ctr" rtl="0">
              <a:lnSpc>
                <a:spcPct val="106300"/>
              </a:lnSpc>
              <a:spcBef>
                <a:spcPts val="0"/>
              </a:spcBef>
              <a:spcAft>
                <a:spcPts val="0"/>
              </a:spcAft>
              <a:buNone/>
            </a:pPr>
            <a:r>
              <a:rPr lang="en-US" sz="3000" b="1" i="1" dirty="0">
                <a:solidFill>
                  <a:schemeClr val="dk1"/>
                </a:solidFill>
                <a:latin typeface="Times New Roman" panose="02020603050405020304" pitchFamily="18" charset="0"/>
                <a:ea typeface="Trebuchet MS"/>
                <a:cs typeface="Times New Roman" panose="02020603050405020304" pitchFamily="18" charset="0"/>
                <a:sym typeface="Trebuchet MS"/>
              </a:rPr>
              <a:t>                                                                 </a:t>
            </a:r>
            <a:endParaRPr sz="3800" b="1" i="1" u="sng" dirty="0">
              <a:solidFill>
                <a:schemeClr val="dk1"/>
              </a:solidFill>
              <a:latin typeface="Times New Roman" panose="02020603050405020304" pitchFamily="18" charset="0"/>
              <a:ea typeface="Trebuchet MS"/>
              <a:cs typeface="Times New Roman" panose="02020603050405020304" pitchFamily="18" charset="0"/>
              <a:sym typeface="Trebuchet MS"/>
            </a:endParaRPr>
          </a:p>
        </p:txBody>
      </p:sp>
      <p:pic>
        <p:nvPicPr>
          <p:cNvPr id="3" name="Image 0" descr="/mnt/data/trafficsense_pipeline.png">
            <a:extLst>
              <a:ext uri="{FF2B5EF4-FFF2-40B4-BE49-F238E27FC236}">
                <a16:creationId xmlns:a16="http://schemas.microsoft.com/office/drawing/2014/main" id="{5F2D230F-142F-94F4-C3F5-FC9352980706}"/>
              </a:ext>
            </a:extLst>
          </p:cNvPr>
          <p:cNvPicPr>
            <a:picLocks noChangeAspect="1"/>
          </p:cNvPicPr>
          <p:nvPr/>
        </p:nvPicPr>
        <p:blipFill>
          <a:blip r:embed="rId3"/>
          <a:stretch>
            <a:fillRect/>
          </a:stretch>
        </p:blipFill>
        <p:spPr>
          <a:xfrm>
            <a:off x="2112872" y="5038681"/>
            <a:ext cx="14625969" cy="3388237"/>
          </a:xfrm>
          <a:prstGeom prst="rect">
            <a:avLst/>
          </a:prstGeom>
        </p:spPr>
      </p:pic>
    </p:spTree>
    <p:extLst>
      <p:ext uri="{BB962C8B-B14F-4D97-AF65-F5344CB8AC3E}">
        <p14:creationId xmlns:p14="http://schemas.microsoft.com/office/powerpoint/2010/main" val="490716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75"/>
        <p:cNvGrpSpPr/>
        <p:nvPr/>
      </p:nvGrpSpPr>
      <p:grpSpPr>
        <a:xfrm>
          <a:off x="0" y="0"/>
          <a:ext cx="0" cy="0"/>
          <a:chOff x="0" y="0"/>
          <a:chExt cx="0" cy="0"/>
        </a:xfrm>
      </p:grpSpPr>
      <p:sp>
        <p:nvSpPr>
          <p:cNvPr id="76" name="Google Shape;76;p4"/>
          <p:cNvSpPr/>
          <p:nvPr/>
        </p:nvSpPr>
        <p:spPr>
          <a:xfrm>
            <a:off x="0" y="8299938"/>
            <a:ext cx="18288000" cy="1989558"/>
          </a:xfrm>
          <a:custGeom>
            <a:avLst/>
            <a:gdLst/>
            <a:ahLst/>
            <a:cxnLst/>
            <a:rect l="l" t="t" r="r" b="b"/>
            <a:pathLst>
              <a:path w="18288000" h="2600325" extrusionOk="0">
                <a:moveTo>
                  <a:pt x="18287998" y="2600324"/>
                </a:moveTo>
                <a:lnTo>
                  <a:pt x="0" y="2600324"/>
                </a:lnTo>
                <a:lnTo>
                  <a:pt x="0" y="0"/>
                </a:lnTo>
                <a:lnTo>
                  <a:pt x="18287998" y="0"/>
                </a:lnTo>
                <a:lnTo>
                  <a:pt x="18287998" y="2600324"/>
                </a:lnTo>
                <a:close/>
              </a:path>
            </a:pathLst>
          </a:custGeom>
          <a:solidFill>
            <a:srgbClr val="99B83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4"/>
          <p:cNvSpPr txBox="1">
            <a:spLocks noGrp="1"/>
          </p:cNvSpPr>
          <p:nvPr>
            <p:ph type="title"/>
          </p:nvPr>
        </p:nvSpPr>
        <p:spPr>
          <a:xfrm>
            <a:off x="361648" y="301654"/>
            <a:ext cx="16081375" cy="99770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6400" i="1" dirty="0">
                <a:solidFill>
                  <a:srgbClr val="000000"/>
                </a:solidFill>
              </a:rPr>
              <a:t>Evaluation Metrices</a:t>
            </a:r>
            <a:endParaRPr sz="6400" dirty="0">
              <a:latin typeface="Trebuchet MS"/>
              <a:ea typeface="Trebuchet MS"/>
              <a:cs typeface="Trebuchet MS"/>
              <a:sym typeface="Trebuchet MS"/>
            </a:endParaRPr>
          </a:p>
        </p:txBody>
      </p:sp>
      <p:sp>
        <p:nvSpPr>
          <p:cNvPr id="78" name="Google Shape;78;p4"/>
          <p:cNvSpPr txBox="1"/>
          <p:nvPr/>
        </p:nvSpPr>
        <p:spPr>
          <a:xfrm>
            <a:off x="633787" y="1836938"/>
            <a:ext cx="16081375" cy="7843429"/>
          </a:xfrm>
          <a:prstGeom prst="rect">
            <a:avLst/>
          </a:prstGeom>
          <a:noFill/>
          <a:ln>
            <a:noFill/>
          </a:ln>
        </p:spPr>
        <p:txBody>
          <a:bodyPr spcFirstLastPara="1" wrap="square" lIns="0" tIns="12700" rIns="0" bIns="0" anchor="t" anchorCtr="0">
            <a:spAutoFit/>
          </a:bodyPr>
          <a:lstStyle/>
          <a:p>
            <a:pPr marL="0" indent="0">
              <a:buNone/>
            </a:pPr>
            <a:r>
              <a:rPr lang="en-US" sz="3300" b="1" dirty="0">
                <a:latin typeface="Times New Roman" panose="02020603050405020304" pitchFamily="18" charset="0"/>
                <a:ea typeface="Calibri" pitchFamily="34" charset="-122"/>
                <a:cs typeface="Times New Roman" panose="02020603050405020304" pitchFamily="18" charset="0"/>
              </a:rPr>
              <a:t>Forecasting Metrics (ML)</a:t>
            </a:r>
            <a:br>
              <a:rPr lang="en-US" sz="3300" b="1" dirty="0">
                <a:latin typeface="Times New Roman" panose="02020603050405020304" pitchFamily="18" charset="0"/>
                <a:ea typeface="Calibri" pitchFamily="34" charset="-122"/>
                <a:cs typeface="Times New Roman" panose="02020603050405020304" pitchFamily="18" charset="0"/>
              </a:rPr>
            </a:br>
            <a:br>
              <a:rPr lang="en-US" sz="3300" b="1" dirty="0">
                <a:latin typeface="Times New Roman" panose="02020603050405020304" pitchFamily="18" charset="0"/>
                <a:ea typeface="Calibri" pitchFamily="34" charset="-122"/>
                <a:cs typeface="Times New Roman" panose="02020603050405020304" pitchFamily="18" charset="0"/>
              </a:rPr>
            </a:br>
            <a:r>
              <a:rPr lang="en-US" sz="3300" dirty="0">
                <a:latin typeface="Times New Roman" panose="02020603050405020304" pitchFamily="18" charset="0"/>
                <a:ea typeface="Calibri" pitchFamily="34" charset="-122"/>
                <a:cs typeface="Times New Roman" panose="02020603050405020304" pitchFamily="18" charset="0"/>
              </a:rPr>
              <a:t>• MAE / RMSE for speed or volume prediction</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ea typeface="Calibri" pitchFamily="34" charset="-122"/>
                <a:cs typeface="Times New Roman" panose="02020603050405020304" pitchFamily="18" charset="0"/>
              </a:rPr>
              <a:t>• Precision/Recall for “congestion event” classification</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ea typeface="Calibri" pitchFamily="34" charset="-122"/>
                <a:cs typeface="Times New Roman" panose="02020603050405020304" pitchFamily="18" charset="0"/>
              </a:rPr>
              <a:t>• Time-to-detect sudden congestion spikes</a:t>
            </a:r>
            <a:endParaRPr lang="en-US" sz="3300" dirty="0">
              <a:latin typeface="Times New Roman" panose="02020603050405020304" pitchFamily="18" charset="0"/>
              <a:cs typeface="Times New Roman" panose="02020603050405020304" pitchFamily="18" charset="0"/>
            </a:endParaRPr>
          </a:p>
          <a:p>
            <a:pPr marL="12700" marR="56514">
              <a:lnSpc>
                <a:spcPct val="107100"/>
              </a:lnSpc>
            </a:pPr>
            <a:endParaRPr lang="en-US" sz="3300" dirty="0">
              <a:latin typeface="Times New Roman" panose="02020603050405020304" pitchFamily="18" charset="0"/>
              <a:cs typeface="Times New Roman" panose="02020603050405020304" pitchFamily="18" charset="0"/>
            </a:endParaRPr>
          </a:p>
          <a:p>
            <a:pPr marL="12700" marR="56514">
              <a:lnSpc>
                <a:spcPct val="107100"/>
              </a:lnSpc>
            </a:pPr>
            <a:r>
              <a:rPr lang="en-US" sz="3300" b="1" dirty="0">
                <a:latin typeface="Times New Roman" panose="02020603050405020304" pitchFamily="18" charset="0"/>
                <a:ea typeface="Calibri" pitchFamily="34" charset="-122"/>
                <a:cs typeface="Times New Roman" panose="02020603050405020304" pitchFamily="18" charset="0"/>
              </a:rPr>
              <a:t>Operational Metrics (Traffic)</a:t>
            </a:r>
            <a:endParaRPr lang="en-US" sz="3300" dirty="0">
              <a:latin typeface="Times New Roman" panose="02020603050405020304" pitchFamily="18" charset="0"/>
              <a:cs typeface="Times New Roman" panose="02020603050405020304" pitchFamily="18" charset="0"/>
            </a:endParaRPr>
          </a:p>
          <a:p>
            <a:pPr marL="0" indent="0">
              <a:buNone/>
            </a:pPr>
            <a:br>
              <a:rPr lang="en-US" sz="3300" dirty="0">
                <a:latin typeface="Times New Roman" panose="02020603050405020304" pitchFamily="18" charset="0"/>
                <a:cs typeface="Times New Roman" panose="02020603050405020304" pitchFamily="18" charset="0"/>
              </a:rPr>
            </a:br>
            <a:r>
              <a:rPr lang="en-US" sz="3300" dirty="0">
                <a:latin typeface="Times New Roman" panose="02020603050405020304" pitchFamily="18" charset="0"/>
                <a:ea typeface="Calibri" pitchFamily="34" charset="-122"/>
                <a:cs typeface="Times New Roman" panose="02020603050405020304" pitchFamily="18" charset="0"/>
              </a:rPr>
              <a:t>• Average delay / queue length (simulation or historical replay)</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ea typeface="Calibri" pitchFamily="34" charset="-122"/>
                <a:cs typeface="Times New Roman" panose="02020603050405020304" pitchFamily="18" charset="0"/>
              </a:rPr>
              <a:t>• Throughput at intersections (vehicles per cycle)</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ea typeface="Calibri" pitchFamily="34" charset="-122"/>
                <a:cs typeface="Times New Roman" panose="02020603050405020304" pitchFamily="18" charset="0"/>
              </a:rPr>
              <a:t>• Fairness constraints respected (min green, pedestrians, emergency priority)</a:t>
            </a:r>
            <a:endParaRPr lang="en-US" sz="3300" dirty="0">
              <a:latin typeface="Times New Roman" panose="02020603050405020304" pitchFamily="18" charset="0"/>
              <a:cs typeface="Times New Roman" panose="02020603050405020304" pitchFamily="18" charset="0"/>
            </a:endParaRPr>
          </a:p>
          <a:p>
            <a:pPr marL="12700" marR="56514">
              <a:lnSpc>
                <a:spcPct val="107100"/>
              </a:lnSpc>
            </a:pPr>
            <a:br>
              <a:rPr lang="en-US" sz="3300" dirty="0">
                <a:latin typeface="Times New Roman" panose="02020603050405020304" pitchFamily="18" charset="0"/>
                <a:cs typeface="Times New Roman" panose="02020603050405020304" pitchFamily="18" charset="0"/>
              </a:rPr>
            </a:br>
            <a:endParaRPr lang="en-US" sz="3300" dirty="0">
              <a:latin typeface="Times New Roman" panose="02020603050405020304" pitchFamily="18" charset="0"/>
              <a:cs typeface="Times New Roman" panose="02020603050405020304" pitchFamily="18" charset="0"/>
            </a:endParaRPr>
          </a:p>
          <a:p>
            <a:pPr marL="12700" marR="56514">
              <a:lnSpc>
                <a:spcPct val="107100"/>
              </a:lnSpc>
            </a:pPr>
            <a:endParaRPr lang="en-US" sz="3300" dirty="0">
              <a:latin typeface="Times New Roman" panose="02020603050405020304" pitchFamily="18" charset="0"/>
              <a:cs typeface="Times New Roman" panose="02020603050405020304" pitchFamily="18" charset="0"/>
            </a:endParaRPr>
          </a:p>
          <a:p>
            <a:pPr marL="12700" marR="56514" lvl="0" indent="0" algn="l" rtl="0">
              <a:lnSpc>
                <a:spcPct val="107100"/>
              </a:lnSpc>
              <a:spcBef>
                <a:spcPts val="0"/>
              </a:spcBef>
              <a:spcAft>
                <a:spcPts val="0"/>
              </a:spcAft>
              <a:buNone/>
            </a:pPr>
            <a:endParaRPr sz="3300" dirty="0">
              <a:solidFill>
                <a:schemeClr val="dk1"/>
              </a:solidFill>
              <a:latin typeface="Times New Roman" panose="02020603050405020304" pitchFamily="18" charset="0"/>
              <a:ea typeface="Trebuchet MS"/>
              <a:cs typeface="Times New Roman" panose="02020603050405020304" pitchFamily="18" charset="0"/>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3351241" y="416487"/>
            <a:ext cx="11585518" cy="1997983"/>
          </a:xfrm>
          <a:prstGeom prst="rect">
            <a:avLst/>
          </a:prstGeom>
          <a:noFill/>
          <a:ln>
            <a:noFill/>
          </a:ln>
        </p:spPr>
        <p:txBody>
          <a:bodyPr spcFirstLastPara="1" wrap="square" lIns="0" tIns="12700" rIns="0" bIns="0" anchor="t" anchorCtr="0">
            <a:spAutoFit/>
          </a:bodyPr>
          <a:lstStyle/>
          <a:p>
            <a:pPr marL="12700"/>
            <a:r>
              <a:rPr lang="en-US" sz="6300" dirty="0">
                <a:solidFill>
                  <a:srgbClr val="000000"/>
                </a:solidFill>
              </a:rPr>
              <a:t>Benefits of </a:t>
            </a:r>
            <a:r>
              <a:rPr lang="en-US" sz="6600" i="1" dirty="0">
                <a:solidFill>
                  <a:srgbClr val="2B4AA6"/>
                </a:solidFill>
              </a:rPr>
              <a:t>Traffic Sense</a:t>
            </a:r>
            <a:br>
              <a:rPr lang="en-US" sz="6600" dirty="0">
                <a:solidFill>
                  <a:schemeClr val="dk1"/>
                </a:solidFill>
              </a:rPr>
            </a:br>
            <a:endParaRPr sz="6300" dirty="0"/>
          </a:p>
        </p:txBody>
      </p:sp>
      <p:sp>
        <p:nvSpPr>
          <p:cNvPr id="87" name="Google Shape;87;p5"/>
          <p:cNvSpPr txBox="1"/>
          <p:nvPr/>
        </p:nvSpPr>
        <p:spPr>
          <a:xfrm>
            <a:off x="115738" y="7398041"/>
            <a:ext cx="18056860" cy="474489"/>
          </a:xfrm>
          <a:prstGeom prst="rect">
            <a:avLst/>
          </a:prstGeom>
          <a:noFill/>
          <a:ln>
            <a:noFill/>
          </a:ln>
        </p:spPr>
        <p:txBody>
          <a:bodyPr spcFirstLastPara="1" wrap="square" lIns="0" tIns="12700" rIns="0" bIns="0" anchor="t" anchorCtr="0">
            <a:spAutoFit/>
          </a:bodyPr>
          <a:lstStyle/>
          <a:p>
            <a:pPr marL="12700" marR="5080" lvl="0" indent="-635" algn="ctr" rtl="0">
              <a:lnSpc>
                <a:spcPct val="100000"/>
              </a:lnSpc>
              <a:spcBef>
                <a:spcPts val="0"/>
              </a:spcBef>
              <a:spcAft>
                <a:spcPts val="0"/>
              </a:spcAft>
              <a:buNone/>
            </a:pPr>
            <a:endParaRPr sz="3000">
              <a:solidFill>
                <a:schemeClr val="dk1"/>
              </a:solidFill>
              <a:latin typeface="Trebuchet MS"/>
              <a:ea typeface="Trebuchet MS"/>
              <a:cs typeface="Trebuchet MS"/>
              <a:sym typeface="Trebuchet MS"/>
            </a:endParaRPr>
          </a:p>
        </p:txBody>
      </p:sp>
      <p:sp>
        <p:nvSpPr>
          <p:cNvPr id="3" name="Rectangle 2">
            <a:extLst>
              <a:ext uri="{FF2B5EF4-FFF2-40B4-BE49-F238E27FC236}">
                <a16:creationId xmlns:a16="http://schemas.microsoft.com/office/drawing/2014/main" id="{7D62A131-5A18-72D5-47F7-AF71DE8BCD9C}"/>
              </a:ext>
            </a:extLst>
          </p:cNvPr>
          <p:cNvSpPr>
            <a:spLocks noChangeArrowheads="1"/>
          </p:cNvSpPr>
          <p:nvPr/>
        </p:nvSpPr>
        <p:spPr bwMode="auto">
          <a:xfrm rot="10800000" flipV="1">
            <a:off x="1433318" y="1689250"/>
            <a:ext cx="15038079"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Proactive congestion control:</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Predicts near-term congestion (5–15 min) so mitigation happens </a:t>
            </a:r>
            <a:r>
              <a:rPr kumimoji="0" lang="en-US" altLang="en-US" sz="3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before</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queues become severe.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intersection performance:</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average waiting time and stop-and-go behavior by allocating green time to where demand is rising.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Incident &amp; event awareness:</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Detects abnormal spikes (crashes, road closures, events) and triggers alerts with recommended response timing plans.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Safety-first actuation:</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Generates </a:t>
            </a: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constraint-aware</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recommendations (pedestrian phases, min/max green, fairness) to prevent unsafe or unstable timing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priority support (optional):</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Enables preemption/priority routing logic for ambulances/fire services without breaking corridor coordination.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deployment:</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Start with a single corridor/intersection cluster, then expand city-wide as more data sources (CCTV counts, loop detectors, GPS probes) become 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Sustainability &amp; cost impact:</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Smoother flow reduces fuel waste and emissions, improving quality of life and commuter productivity.</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984</Words>
  <Application>Microsoft Macintosh PowerPoint</Application>
  <PresentationFormat>Custom</PresentationFormat>
  <Paragraphs>54</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Trebuchet MS</vt:lpstr>
      <vt:lpstr>Times New Roman</vt:lpstr>
      <vt:lpstr>Office Theme</vt:lpstr>
      <vt:lpstr>PANIMALAR ENGINEERING COLLEGE</vt:lpstr>
      <vt:lpstr>Abstract:</vt:lpstr>
      <vt:lpstr>Problem Statement:</vt:lpstr>
      <vt:lpstr>Architecture and functionalities</vt:lpstr>
      <vt:lpstr>Working of TrafficSense</vt:lpstr>
      <vt:lpstr>Evaluation Metrices</vt:lpstr>
      <vt:lpstr>Benefits of Traffic Sense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Deepthi Loganathan</dc:creator>
  <cp:lastModifiedBy>Akilan Manivannan</cp:lastModifiedBy>
  <cp:revision>1</cp:revision>
  <dcterms:created xsi:type="dcterms:W3CDTF">2022-11-11T14:17:21Z</dcterms:created>
  <dcterms:modified xsi:type="dcterms:W3CDTF">2026-02-22T03:19:52Z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2022-11-09T00:00:00Z</vt:filetime>
  </property>
  <property fmtid="{D5CDD505-2E9C-101B-9397-08002B2CF9AE}" pid="3" name="Creator">
    <vt:lpwstr>Canva</vt:lpwstr>
  </property>
  <property fmtid="{D5CDD505-2E9C-101B-9397-08002B2CF9AE}" pid="4" name="LastSaved">
    <vt:filetime>2022-11-09T00:00:00Z</vt:filetime>
  </property>
</Properties>
</file>